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4160520" cy="29260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06324"/>
            <a:ext cx="4160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B45309"/>
                </a:solidFill>
                <a:latin typeface="Courier New"/>
                <a:ea typeface="Courier New"/>
              </a:rPr>
              <a:t>●  전체 파이프라인 end-to-end 동작 · 실측 검증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  <a:ea typeface="Calibri"/>
              </a:rPr>
              <a:t>APM Agent &amp;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98448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563EB"/>
                </a:solidFill>
                <a:latin typeface="Calibri"/>
                <a:ea typeface="Calibri"/>
              </a:rPr>
              <a:t>경량 모니터링 에이전트 + 실시간 웹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  <a:ea typeface="Calibri"/>
              </a:rPr>
              <a:t>Standalone Asio 크로스플랫폼 코어 위에 TLS·AES-256-GCM 이중 암호화·메시지 프레이밍을 갖춘 수집 에이전트와, .NET 8 플러그인 아키텍처 기반 실시간 대시보드까지 1인 설계·구현.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67712"/>
            <a:ext cx="502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2377440"/>
            <a:ext cx="918057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404872"/>
            <a:ext cx="91805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ourier New"/>
                <a:ea typeface="Courier New"/>
              </a:rPr>
              <a:t>C++20 / Asio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9537" y="2377440"/>
            <a:ext cx="1247241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9537" y="2404872"/>
            <a:ext cx="124724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ourier New"/>
                <a:ea typeface="Courier New"/>
              </a:rPr>
              <a:t>TLS + AES-256-GCM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8218" y="2377440"/>
            <a:ext cx="654710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8218" y="2404872"/>
            <a:ext cx="65471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ourier New"/>
                <a:ea typeface="Courier New"/>
              </a:rPr>
              <a:t>Protobuf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4368" y="2377440"/>
            <a:ext cx="523036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4368" y="2404872"/>
            <a:ext cx="5230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ourier New"/>
                <a:ea typeface="Courier New"/>
              </a:rPr>
              <a:t>.NET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8844" y="2377440"/>
            <a:ext cx="588873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8844" y="2404872"/>
            <a:ext cx="5888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ourier New"/>
                <a:ea typeface="Courier New"/>
              </a:rPr>
              <a:t>SignalR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7" y="2377440"/>
            <a:ext cx="1115567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7" y="2404872"/>
            <a:ext cx="111556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ourier New"/>
                <a:ea typeface="Courier New"/>
              </a:rPr>
              <a:t>Linux + Windows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761488"/>
            <a:ext cx="1188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563EB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18211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  <a:ea typeface="Calibri"/>
              </a:rPr>
              <a:t>수집 지표 종류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761488"/>
            <a:ext cx="1188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563EB"/>
                </a:solidFill>
                <a:latin typeface="Calibri"/>
                <a:ea typeface="Calibri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18211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  <a:ea typeface="Calibri"/>
              </a:rPr>
              <a:t>단위 테스트 통과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2761488"/>
            <a:ext cx="1188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563EB"/>
                </a:solidFill>
                <a:latin typeface="Calibri"/>
                <a:ea typeface="Calibri"/>
              </a:rPr>
              <a:t>0.017%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18211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  <a:ea typeface="Calibri"/>
              </a:rPr>
              <a:t>유휴 CPU 사용률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761488"/>
            <a:ext cx="1188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563EB"/>
                </a:solidFill>
                <a:latin typeface="Calibri"/>
                <a:ea typeface="Calibri"/>
              </a:rPr>
              <a:t>13.8MB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18211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  <a:ea typeface="Calibri"/>
              </a:rPr>
              <a:t>RSS 완전 고정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3493008"/>
            <a:ext cx="5029200" cy="5486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2563EB"/>
                </a:solidFill>
                <a:latin typeface="Calibri"/>
                <a:ea typeface="Calibri"/>
              </a:rPr>
              <a:t>IPayloadSealer</a:t>
            </a:r>
            <a:r>
              <a:rPr sz="950" b="0" i="0">
                <a:solidFill>
                  <a:srgbClr val="2563EB"/>
                </a:solidFill>
                <a:latin typeface="Calibri"/>
                <a:ea typeface="Calibri"/>
              </a:rPr>
              <a:t> 추상화로 ARIA→AES 마이그레이션이 세션/프레이밍 코드 변경 없이 완료됨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256032"/>
            <a:ext cx="3291840" cy="4462272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43891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ourier New"/>
                <a:ea typeface="Courier New"/>
              </a:rPr>
              <a:t>// Pipeline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777240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850392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  <a:ea typeface="Calibri"/>
              </a:rPr>
              <a:t>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106424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수집 · Protobuf 직렬화 · AES-256-GCM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1435608"/>
            <a:ext cx="18288" cy="1828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1563624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  <a:ea typeface="Calibri"/>
              </a:rP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06440" y="1737360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1810512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  <a:ea typeface="Calibri"/>
              </a:rPr>
              <a:t>Collector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066544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프레이밍 해제 · 저장(SQLite) · 재전송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86600" y="2395728"/>
            <a:ext cx="18288" cy="1828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2523744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  <a:ea typeface="Calibri"/>
              </a:rPr>
              <a:t>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2697480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2770632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  <a:ea typeface="Calibri"/>
              </a:rPr>
              <a:t>APM_Console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3026664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복호화 · SignalR · Chart.js 대시보드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1605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  <a:ea typeface="Calibri"/>
              </a:rPr>
              <a:t>3개 프로세스, 구간별 별도 AES 키로 분리된 2개의 암호화 구간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4747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Calibri"/>
                <a:ea typeface="Calibri"/>
              </a:rPr>
              <a:t>전체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95528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  <a:ea typeface="Calibri"/>
              </a:rPr>
              <a:t>Architecture · Agent → Collector(로컬 저장) → APM_Console(웹 대시보드) — 구간별 별도 키의 AES-256-GCM.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24128"/>
            <a:ext cx="8686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2344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14447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  <a:ea typeface="Calibri"/>
              </a:rPr>
              <a:t>ResourceCollector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14447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CPU/메모리/디스크/네트워크/TCP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4" y="1563624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2536" y="12344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93976" y="1325880"/>
            <a:ext cx="14447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  <a:ea typeface="Calibri"/>
              </a:rPr>
              <a:t>PacketHeader 프레이밍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3976" y="1691640"/>
            <a:ext cx="14447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Protobuf 직렬화 (apm::Metric)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563624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76472" y="12344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7912" y="1325880"/>
            <a:ext cx="14447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  <a:ea typeface="Calibri"/>
              </a:rPr>
              <a:t>AesGcmPayload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2" y="1691640"/>
            <a:ext cx="14447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AES-256-GCM (agent_collector_aes.key)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1563624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0408" y="12344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1325880"/>
            <a:ext cx="14447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  <a:ea typeface="Calibri"/>
              </a:rPr>
              <a:t>TLS (asio::ssl)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1691640"/>
            <a:ext cx="14447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비동기 I/O 코어 (io_context)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1563624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12344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5784" y="1325880"/>
            <a:ext cx="14447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  <a:ea typeface="Calibri"/>
              </a:rPr>
              <a:t>PacketHandler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4" y="1691640"/>
            <a:ext cx="14447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타입 안전 디스패치 → IMetricStore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228600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  <a:ea typeface="Calibri"/>
              </a:rPr>
              <a:t>Collector는 저장과 별개로 ResilientSender(재연결 큐잉)를 통해 AES-256-GCM으로 APM_Console에도 전송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2606040"/>
            <a:ext cx="41605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274320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ourier New"/>
                <a:ea typeface="Courier New"/>
              </a:rPr>
              <a:t>// Agent ↔ Collector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" y="29443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  <a:ea typeface="Calibri"/>
              </a:rPr>
              <a:t>AES-256-GCM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236976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ourier New"/>
                <a:ea typeface="Courier New"/>
              </a:rPr>
              <a:t>키: agent_collector_aes.key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" y="347472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원래 ARIA-256-CBC+HMAC(KISA 표준 경험 목적)이었으나, 구조적 안전성(AEAD)과 단일 검증 경로를 위해 AES-256-GCM으로 통일. 구현 경험은 ARIA_TO_AES_MIGRATION.md에 보존.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2606040"/>
            <a:ext cx="41605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274320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ourier New"/>
                <a:ea typeface="Courier New"/>
              </a:rPr>
              <a:t>// Collector ↔ Console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29443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  <a:ea typeface="Calibri"/>
              </a:rPr>
              <a:t>AES-256-GCM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3236976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ourier New"/>
                <a:ea typeface="Courier New"/>
              </a:rPr>
              <a:t>키: webserver_aes.key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347472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.NET(AesGcm)과의 상호운용성을 위해 처음부터 AES-256-GCM 채택. IPayloadSealer 인터페이스로 세션은 암호 방식을 모르는 채 구현체만 주입받음.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4747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Calibri"/>
                <a:ea typeface="Calibri"/>
              </a:rPr>
              <a:t>설계 의사결정  01 –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95528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  <a:ea typeface="Calibri"/>
              </a:rPr>
              <a:t>Design Decisions · "왜 이렇게 만들었는가"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24128"/>
            <a:ext cx="8686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78992"/>
            <a:ext cx="2770632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24963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Courier New"/>
                <a:ea typeface="Courier New"/>
              </a:rPr>
              <a:t>//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2496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  <a:ea typeface="Calibri"/>
              </a:rPr>
              <a:t>Standalone Asio 채택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" y="1673352"/>
            <a:ext cx="2551176" cy="493776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DC2626"/>
                </a:solidFill>
                <a:latin typeface="Calibri"/>
                <a:ea typeface="Calibri"/>
              </a:rPr>
              <a:t>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682496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기존 서버가 Windows IOCP에 강결합, Linux에서 동작 불가.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" y="2203704"/>
            <a:ext cx="2551176" cy="493776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2199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2563EB"/>
                </a:solidFill>
                <a:latin typeface="Calibri"/>
                <a:ea typeface="Calibri"/>
              </a:rPr>
              <a:t>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12848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Asio가 이미 추상화한 IOCP/epoll을 채택 — 비동기 구조는 기존 설계 유지.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" y="2734056"/>
            <a:ext cx="2551176" cy="493776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7523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6A34A"/>
                </a:solidFill>
                <a:latin typeface="Calibri"/>
                <a:ea typeface="Calibri"/>
              </a:rPr>
              <a:t>해결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27432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Linux에서 빌드+실행 검증(포트 리스닝, 무크래시).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82112" y="1078992"/>
            <a:ext cx="2770632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1170432"/>
            <a:ext cx="24963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Courier New"/>
                <a:ea typeface="Courier New"/>
              </a:rPr>
              <a:t>//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316736"/>
            <a:ext cx="2496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  <a:ea typeface="Calibri"/>
              </a:rPr>
              <a:t>ApmSession 독립 작성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1673352"/>
            <a:ext cx="2551176" cy="493776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169164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DC2626"/>
                </a:solidFill>
                <a:latin typeface="Calibri"/>
                <a:ea typeface="Calibri"/>
              </a:rPr>
              <a:t>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1682496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공유 Session에 TLS를 얹으면 TLS 안 쓰는 소비자까지 영향.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203704"/>
            <a:ext cx="2551176" cy="493776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222199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2563EB"/>
                </a:solidFill>
                <a:latin typeface="Calibri"/>
                <a:ea typeface="Calibri"/>
              </a:rPr>
              <a:t>판단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2212848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TLS 소비자가 하나뿐인 시점의 책임 확장은 과설계(YAGNI).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734056"/>
            <a:ext cx="2551176" cy="493776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64992" y="27523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6A34A"/>
                </a:solidFill>
                <a:latin typeface="Calibri"/>
                <a:ea typeface="Calibri"/>
              </a:rPr>
              <a:t>해결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27432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Session 완전 무수정, ApmSession이 프레이밍·암호화·재연결 전담.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1078992"/>
            <a:ext cx="2770632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1170432"/>
            <a:ext cx="24963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Courier New"/>
                <a:ea typeface="Courier New"/>
              </a:rPr>
              <a:t>//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1316736"/>
            <a:ext cx="2496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  <a:ea typeface="Calibri"/>
              </a:rPr>
              <a:t>메시지 프레이밍 + Protobuf 리플렉션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1673352"/>
            <a:ext cx="2551176" cy="493776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169164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DC2626"/>
                </a:solidFill>
                <a:latin typeface="Calibri"/>
                <a:ea typeface="Calibri"/>
              </a:rPr>
              <a:t>문제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1682496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TCP는 메시지 경계가 없어 read 1회=메시지 1개 가정은 설계 공백.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2203704"/>
            <a:ext cx="2551176" cy="493776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4" y="222199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2563EB"/>
                </a:solidFill>
                <a:latin typeface="Calibri"/>
                <a:ea typeface="Calibri"/>
              </a:rPr>
              <a:t>판단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2212848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PacketHeader{size,id}로 프레이밍, ID는 descriptor()-&gt;index()로 자동 결정.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2734056"/>
            <a:ext cx="2551176" cy="493776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18504" y="275234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6A34A"/>
                </a:solidFill>
                <a:latin typeface="Calibri"/>
                <a:ea typeface="Calibri"/>
              </a:rPr>
              <a:t>해결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2552" y="27432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PacketHandler::Register&lt;T&gt;()가 역직렬화까지 자동 — ID 충돌 구조적으로 불가능.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4747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Calibri"/>
                <a:ea typeface="Calibri"/>
              </a:rPr>
              <a:t>설계 의사결정  04 –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95528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  <a:ea typeface="Calibri"/>
              </a:rPr>
              <a:t>Design Decisions · "왜 이렇게 만들었는가"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24128"/>
            <a:ext cx="8686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78992"/>
            <a:ext cx="2770632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24963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Courier New"/>
                <a:ea typeface="Courier New"/>
              </a:rPr>
              <a:t>//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2496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  <a:ea typeface="Calibri"/>
              </a:rPr>
              <a:t>IMetricStore 컴파일 타임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" y="1673352"/>
            <a:ext cx="2551176" cy="40233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DC2626"/>
                </a:solidFill>
                <a:latin typeface="Calibri"/>
                <a:ea typeface="Calibri"/>
              </a:rPr>
              <a:t>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682496"/>
            <a:ext cx="20574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SQLite·TimescaleDB 둘 다 지원하되, 안 쓰는 백엔드 의존성이 남으면 안 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" y="2112263"/>
            <a:ext cx="2551176" cy="402335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30551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2563EB"/>
                </a:solidFill>
                <a:latin typeface="Calibri"/>
                <a:ea typeface="Calibri"/>
              </a:rPr>
              <a:t>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121407"/>
            <a:ext cx="20574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런타임 분기 대신 인터페이스+CMake 옵션(APM_STORAGE_BACKEND)으로 컴파일 타임 고정.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" y="2551174"/>
            <a:ext cx="2551176" cy="402335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56946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6A34A"/>
                </a:solidFill>
                <a:latin typeface="Calibri"/>
                <a:ea typeface="Calibri"/>
              </a:rPr>
              <a:t>해결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2560318"/>
            <a:ext cx="20574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ldd로 libpq 미링크 확인. .NET은 두 프로바이더 다 참조 가능해 런타임 선택 — 언어별 차이.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82112" y="1078992"/>
            <a:ext cx="2770632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1170432"/>
            <a:ext cx="24963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Courier New"/>
                <a:ea typeface="Courier New"/>
              </a:rPr>
              <a:t>//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316736"/>
            <a:ext cx="2496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  <a:ea typeface="Calibri"/>
              </a:rPr>
              <a:t>PrivilegeDrop 최소 권한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1673352"/>
            <a:ext cx="2551176" cy="40233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169164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DC2626"/>
                </a:solidFill>
                <a:latin typeface="Calibri"/>
                <a:ea typeface="Calibri"/>
              </a:rPr>
              <a:t>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1682496"/>
            <a:ext cx="20574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에이전트가 침해당했을 때 과도한 권한이면 피해 범위가 커짐.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112263"/>
            <a:ext cx="2551176" cy="402335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2130551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2563EB"/>
                </a:solidFill>
                <a:latin typeface="Calibri"/>
                <a:ea typeface="Calibri"/>
              </a:rPr>
              <a:t>판단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2121407"/>
            <a:ext cx="20574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포트 바인딩 등 특권 초기화 직후 setuid/setgid로 nobody까지 하향.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551174"/>
            <a:ext cx="2551176" cy="402335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64992" y="256946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6A34A"/>
                </a:solidFill>
                <a:latin typeface="Calibri"/>
                <a:ea typeface="Calibri"/>
              </a:rPr>
              <a:t>해결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2560318"/>
            <a:ext cx="20574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gid→보조그룹 제거→uid 순서, 하향 후 재상승 실패까지 방어적 검증.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1078992"/>
            <a:ext cx="2770632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1170432"/>
            <a:ext cx="24963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Courier New"/>
                <a:ea typeface="Courier New"/>
              </a:rPr>
              <a:t>// 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1316736"/>
            <a:ext cx="2496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  <a:ea typeface="Calibri"/>
              </a:rPr>
              <a:t>도메인별 RCL 플러그인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1673352"/>
            <a:ext cx="2551176" cy="40233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169164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DC2626"/>
                </a:solidFill>
                <a:latin typeface="Calibri"/>
                <a:ea typeface="Calibri"/>
              </a:rPr>
              <a:t>문제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1682496"/>
            <a:ext cx="20574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Apm/Game 도메인을 한 프로젝트에 두면 컨벤션을 잊고 오염될 위험.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2112263"/>
            <a:ext cx="2551176" cy="402335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4" y="2130551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2563EB"/>
                </a:solidFill>
                <a:latin typeface="Calibri"/>
                <a:ea typeface="Calibri"/>
              </a:rPr>
              <a:t>판단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2121407"/>
            <a:ext cx="20574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공수가 더 들어도 컴파일 타임에 강제되는 도메인 격리를 우선.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2551174"/>
            <a:ext cx="2551176" cy="402335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18504" y="256946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6A34A"/>
                </a:solidFill>
                <a:latin typeface="Calibri"/>
                <a:ea typeface="Calibri"/>
              </a:rPr>
              <a:t>해결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2552" y="2560318"/>
            <a:ext cx="20574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RCL+AssemblyLoadContext 로딩. 호스트가 로드한 공유 타입은 재사용해 ALC 타입 충돌 회피.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3154680"/>
            <a:ext cx="8686800" cy="16002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218688"/>
            <a:ext cx="8412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ourier New"/>
                <a:ea typeface="Courier New"/>
              </a:rPr>
              <a:t>// SQLite vs TimescaleDB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42900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  <a:latin typeface="Calibri"/>
                <a:ea typeface="Calibri"/>
              </a:rPr>
              <a:t>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342900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  <a:latin typeface="Calibri"/>
                <a:ea typeface="Calibri"/>
              </a:rPr>
              <a:t>SQLite (기본)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342900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  <a:latin typeface="Calibri"/>
                <a:ea typeface="Calibri"/>
              </a:rPr>
              <a:t>TimescaleDB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621024"/>
            <a:ext cx="841248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3685032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구성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368503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16A34A"/>
                </a:solidFill>
                <a:latin typeface="Calibri"/>
                <a:ea typeface="Calibri"/>
              </a:rPr>
              <a:t>파일 하나, 임베디드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368503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PostgreSQL 확장, 압축/하이퍼테이블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02336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의존성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51760" y="402336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16A34A"/>
                </a:solidFill>
                <a:latin typeface="Calibri"/>
                <a:ea typeface="Calibri"/>
              </a:rPr>
              <a:t>libpq 전혀 링크 안 됨(ldd 확인)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402336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GW2_CrossPlatformCore의 libpq 래퍼 재사용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361688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검증 상태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436168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16A34A"/>
                </a:solidFill>
                <a:latin typeface="Calibri"/>
                <a:ea typeface="Calibri"/>
              </a:rPr>
              <a:t>실저장까지 실측 검증 완료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436168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  <a:latin typeface="Calibri"/>
                <a:ea typeface="Calibri"/>
              </a:rPr>
              <a:t>코드는 있으나 로컬 미설치로 미검증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4747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Calibri"/>
                <a:ea typeface="Calibri"/>
              </a:rPr>
              <a:t>ARIA-CBC+HMAC → AES-GCM 마이그레이션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95528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  <a:ea typeface="Calibri"/>
              </a:rPr>
              <a:t>Design Decision Highlight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24128"/>
            <a:ext cx="8686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872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ourier New"/>
                <a:ea typeface="Courier New"/>
              </a:rPr>
              <a:t>// 마이그레이션 이유</a:t>
            </a:r>
          </a:p>
        </p:txBody>
      </p:sp>
      <p:sp>
        <p:nvSpPr>
          <p:cNvPr id="8" name="Oval 7"/>
          <p:cNvSpPr/>
          <p:nvPr/>
        </p:nvSpPr>
        <p:spPr>
          <a:xfrm>
            <a:off x="228600" y="147218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17320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1" i="0">
                <a:solidFill>
                  <a:srgbClr val="0F172A"/>
                </a:solidFill>
                <a:latin typeface="Calibri"/>
                <a:ea typeface="Calibri"/>
              </a:rPr>
              <a:t>구조적 안전성 — </a:t>
            </a:r>
            <a:r>
              <a:rPr sz="830" b="0" i="0">
                <a:solidFill>
                  <a:srgbClr val="374151"/>
                </a:solidFill>
                <a:latin typeface="Calibri"/>
                <a:ea typeface="Calibri"/>
              </a:rPr>
              <a:t>CBC+HMAC 수동 조합은 순서를 잘못 짜면 패딩 오라클 재발 위험. GCM은 AEAD라 조합 실수 자체가 불가능.</a:t>
            </a:r>
          </a:p>
        </p:txBody>
      </p:sp>
      <p:sp>
        <p:nvSpPr>
          <p:cNvPr id="10" name="Oval 9"/>
          <p:cNvSpPr/>
          <p:nvPr/>
        </p:nvSpPr>
        <p:spPr>
          <a:xfrm>
            <a:off x="228600" y="203911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984248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1" i="0">
                <a:solidFill>
                  <a:srgbClr val="0F172A"/>
                </a:solidFill>
                <a:latin typeface="Calibri"/>
                <a:ea typeface="Calibri"/>
              </a:rPr>
              <a:t>단일 검증 경로 — </a:t>
            </a:r>
            <a:r>
              <a:rPr sz="830" b="0" i="0">
                <a:solidFill>
                  <a:srgbClr val="374151"/>
                </a:solidFill>
                <a:latin typeface="Calibri"/>
                <a:ea typeface="Calibri"/>
              </a:rPr>
              <a:t>구간마다 다른 암호는 검증 대상도 2배. AES-GCM 테스트 9개가 이제 두 구간 모두 커버.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260604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51176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1" i="0">
                <a:solidFill>
                  <a:srgbClr val="0F172A"/>
                </a:solidFill>
                <a:latin typeface="Calibri"/>
                <a:ea typeface="Calibri"/>
              </a:rPr>
              <a:t>무손실 전환 — </a:t>
            </a:r>
            <a:r>
              <a:rPr sz="830" b="0" i="0">
                <a:solidFill>
                  <a:srgbClr val="374151"/>
                </a:solidFill>
                <a:latin typeface="Calibri"/>
                <a:ea typeface="Calibri"/>
              </a:rPr>
              <a:t>IPayloadSealer 추상화 덕분에 세션/프레이밍 코드 변경 없이 주입 구현체만 교체.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3246120"/>
            <a:ext cx="4206240" cy="12344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46704"/>
            <a:ext cx="39319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2563EB"/>
                </a:solidFill>
                <a:latin typeface="Calibri"/>
                <a:ea typeface="Calibri"/>
              </a:rPr>
              <a:t>ARIA-256-CBC+HMAC 구현·검증 경험(Encrypt-then-MAC, 패딩 오라클 대응)은 코드·문서로 보존 — </a:t>
            </a:r>
            <a:r>
              <a:rPr sz="900" b="1" i="0">
                <a:solidFill>
                  <a:srgbClr val="2563EB"/>
                </a:solidFill>
                <a:latin typeface="Calibri"/>
                <a:ea typeface="Calibri"/>
              </a:rPr>
              <a:t>Docs/ARIA_TO_AES_MIGRATION.md</a:t>
            </a:r>
            <a:r>
              <a:rPr sz="900" b="0" i="0">
                <a:solidFill>
                  <a:srgbClr val="2563EB"/>
                </a:solidFill>
                <a:latin typeface="Calibri"/>
                <a:ea typeface="Calibri"/>
              </a:rPr>
              <a:t>에 정리.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188720"/>
            <a:ext cx="4251960" cy="32918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280160"/>
            <a:ext cx="3977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Collector/main.cpp — 수정 전/후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FF6B6B"/>
                </a:solidFill>
                <a:latin typeface="Courier New"/>
                <a:ea typeface="Courier New"/>
              </a:rPr>
              <a:t>- AriaCipher::Key encKey = ...aria.key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FF6B6B"/>
                </a:solidFill>
                <a:latin typeface="Courier New"/>
                <a:ea typeface="Courier New"/>
              </a:rPr>
              <a:t>- HmacUtil::Key macKey = ...hmac.key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7EE787"/>
                </a:solidFill>
                <a:latin typeface="Courier New"/>
                <a:ea typeface="Courier New"/>
              </a:rPr>
              <a:t>+ AesGcmCipher::Key agentCollectorKey =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7EE787"/>
                </a:solidFill>
                <a:latin typeface="Courier New"/>
                <a:ea typeface="Courier New"/>
              </a:rPr>
              <a:t>+     LoadKeyFromHexFile(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7EE787"/>
                </a:solidFill>
                <a:latin typeface="Courier New"/>
                <a:ea typeface="Courier New"/>
              </a:rPr>
              <a:t>+         "certs/agent_collector_aes.key");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auto session = std::make_shared&lt;ApmSession&gt;(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    std::move(socket), sslContext,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    SessionMode::Server,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FF6B6B"/>
                </a:solidFill>
                <a:latin typeface="Courier New"/>
                <a:ea typeface="Courier New"/>
              </a:rPr>
              <a:t>- std::make_unique&lt;SecurePayload&gt;(encKey, macKey));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7EE787"/>
                </a:solidFill>
                <a:latin typeface="Courier New"/>
                <a:ea typeface="Courier New"/>
              </a:rPr>
              <a:t>+ std::make_unique&lt;AesGcmPayload&gt;(agentCollectorKey));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AriaCipher/HmacUtil/SecurePayload는 삭제하지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않고 코드에 보존(참고용, 실행 경로 미사용)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4747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Calibri"/>
                <a:ea typeface="Calibri"/>
              </a:rPr>
              <a:t>Windows 크로스플랫폼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95528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  <a:ea typeface="Calibri"/>
              </a:rPr>
              <a:t>Cross-Platform Highlight · SAC(Smart App Control)가 막은 실행을 정적 링크로 우회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24128"/>
            <a:ext cx="8686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872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ourier New"/>
                <a:ea typeface="Courier New"/>
              </a:rPr>
              <a:t>// 이식하며 겪은 실제 이슈</a:t>
            </a:r>
          </a:p>
        </p:txBody>
      </p:sp>
      <p:sp>
        <p:nvSpPr>
          <p:cNvPr id="8" name="Oval 7"/>
          <p:cNvSpPr/>
          <p:nvPr/>
        </p:nvSpPr>
        <p:spPr>
          <a:xfrm>
            <a:off x="228600" y="147218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17320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1" i="0">
                <a:solidFill>
                  <a:srgbClr val="0F172A"/>
                </a:solidFill>
                <a:latin typeface="Calibri"/>
                <a:ea typeface="Calibri"/>
              </a:rPr>
              <a:t>ResourceCollector 이식 — </a:t>
            </a:r>
            <a:r>
              <a:rPr sz="830" b="0" i="0">
                <a:solidFill>
                  <a:srgbClr val="374151"/>
                </a:solidFill>
                <a:latin typeface="Calibri"/>
                <a:ea typeface="Calibri"/>
              </a:rPr>
              <a:t>Linux /proc 전용 → GetSystemTimes/GlobalMemoryStatusEx/GetIfTable2(WinAPI)로 신규 작성.</a:t>
            </a:r>
          </a:p>
        </p:txBody>
      </p:sp>
      <p:sp>
        <p:nvSpPr>
          <p:cNvPr id="10" name="Oval 9"/>
          <p:cNvSpPr/>
          <p:nvPr/>
        </p:nvSpPr>
        <p:spPr>
          <a:xfrm>
            <a:off x="228600" y="209397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039112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1" i="0">
                <a:solidFill>
                  <a:srgbClr val="0F172A"/>
                </a:solidFill>
                <a:latin typeface="Calibri"/>
                <a:ea typeface="Calibri"/>
              </a:rPr>
              <a:t>TCP_INFO 이식 — </a:t>
            </a:r>
            <a:r>
              <a:rPr sz="830" b="0" i="0">
                <a:solidFill>
                  <a:srgbClr val="374151"/>
                </a:solidFill>
                <a:latin typeface="Calibri"/>
                <a:ea typeface="Calibri"/>
              </a:rPr>
              <a:t>getsockopt(TCP_INFO) → WSAIoctl(SIO_TCP_INFO). API가 안 주는 필드(RTT 변동성 등)는 근사치 대신 0으로 정직하게 처리.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271576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660904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1" i="0">
                <a:solidFill>
                  <a:srgbClr val="0F172A"/>
                </a:solidFill>
                <a:latin typeface="Calibri"/>
                <a:ea typeface="Calibri"/>
              </a:rPr>
              <a:t>빌드 환경 — </a:t>
            </a:r>
            <a:r>
              <a:rPr sz="830" b="0" i="0">
                <a:solidFill>
                  <a:srgbClr val="374151"/>
                </a:solidFill>
                <a:latin typeface="Calibri"/>
                <a:ea typeface="Calibri"/>
              </a:rPr>
              <a:t>protobuf 버전 불일치(.pb.cc 재생성), MSVC 한글 소스 인코딩(/utf-8 옵션).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3429000"/>
            <a:ext cx="4206240" cy="105156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529584"/>
            <a:ext cx="3931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DC2626"/>
                </a:solidFill>
                <a:latin typeface="Calibri"/>
                <a:ea typeface="Calibri"/>
              </a:rPr>
              <a:t>발견: </a:t>
            </a:r>
            <a:r>
              <a:rPr sz="850" b="0" i="0">
                <a:solidFill>
                  <a:srgbClr val="DC2626"/>
                </a:solidFill>
                <a:latin typeface="Calibri"/>
                <a:ea typeface="Calibri"/>
              </a:rPr>
              <a:t>Windows 11 Smart App Control이 로컬에서 새로 빌드한(서명 안 된) vcpkg DLL의 로딩 자체를 코드 무결성 정책으로 차단 — CodeIntegrity 이벤트 로그로 원인 확정.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188720"/>
            <a:ext cx="4251960" cy="329184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280160"/>
            <a:ext cx="3977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Before — 동적 링크: SAC가 DLL 로딩 차단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cmake -B build -S . \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  -DVCPKG_TARGET_TRIPLET=x64-windows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FF6B6B"/>
                </a:solidFill>
                <a:latin typeface="Courier New"/>
                <a:ea typeface="Courier New"/>
              </a:rPr>
              <a:t>// CodeIntegrity: Agent.exe가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FF6B6B"/>
                </a:solidFill>
                <a:latin typeface="Courier New"/>
                <a:ea typeface="Courier New"/>
              </a:rPr>
              <a:t>// libprotobufd.dll 로딩 차단 - 응답 없음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After — 정적 링크: 외부 DLL 의존성 제거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cmake -B build-static -S . \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  -DVCPKG_TARGET_TRIPLET=x64-windows-static \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  -DCMAKE_MSVC_RUNTIME_LIBRARY=MultiThreaded...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7EE787"/>
                </a:solidFill>
                <a:latin typeface="Courier New"/>
                <a:ea typeface="Courier New"/>
              </a:rPr>
              <a:t>// Collector.exe/Agent.exe 외부 DLL 0개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7EE787"/>
                </a:solidFill>
                <a:latin typeface="Courier New"/>
                <a:ea typeface="Courier New"/>
              </a:rPr>
              <a:t>// → TLS+AES-GCM 통신, 실측 리소스 수집 정상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7EE787"/>
                </a:solidFill>
                <a:latin typeface="Courier New"/>
                <a:ea typeface="Courier New"/>
              </a:rPr>
              <a:t>//   동작(6+ 사이클, 크래시 없음)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4747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Calibri"/>
                <a:ea typeface="Calibri"/>
              </a:rPr>
              <a:t>Razor HTML 인코딩 — JS 타임스탬프 파싱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95528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  <a:ea typeface="Calibri"/>
              </a:rPr>
              <a:t>Bug #1 · 대시보드 초기 렌더링에서 차트가 빈 그래프로 뜸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24128"/>
            <a:ext cx="8686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78992"/>
            <a:ext cx="4251960" cy="324612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33856"/>
            <a:ext cx="3977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  <a:latin typeface="Calibri"/>
                <a:ea typeface="Calibri"/>
              </a:rPr>
              <a:t>✕  문제 — ISO 문자열의 '+'가 HTML 인코딩으로 깨짐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389888"/>
            <a:ext cx="4197096" cy="246888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81328"/>
            <a:ext cx="392277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수정 전 - ISO 문자열을 그대로 JS에 삽입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const initialPoints = [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@foreach (var m in Model...)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{ t: "</a:t>
            </a:r>
            <a:r>
              <a:rPr sz="800" b="0" i="0">
                <a:solidFill>
                  <a:srgbClr val="FF6B6B"/>
                </a:solidFill>
                <a:latin typeface="Courier New"/>
                <a:ea typeface="Courier New"/>
              </a:rPr>
              <a:t>@m.Ts...ToString("o")</a:t>
            </a: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", ...},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];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Razor @ 표현식은 &lt;script&gt; 안이라도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항상 HTML 인코딩됨: "+09:00" → "&amp;#x2B;09:00"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→ new Date(...) 파싱 실패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04488"/>
            <a:ext cx="3977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실제 렌더링 결과를 curl로 확인하는 과정에서 발견 — 설계 검토만으로는 못 잡는 유형.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078992"/>
            <a:ext cx="4251960" cy="324612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133856"/>
            <a:ext cx="3977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6A34A"/>
                </a:solidFill>
                <a:latin typeface="Calibri"/>
                <a:ea typeface="Calibri"/>
              </a:rPr>
              <a:t>✓  수정 — 유닉스 밀리초(숫자)로 전달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90872" y="1389888"/>
            <a:ext cx="4197096" cy="246888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1481328"/>
            <a:ext cx="392277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숫자는 인코딩할 특수문자가 없음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const initialPoints = [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@foreach (var m in Model...)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{ t: </a:t>
            </a:r>
            <a:r>
              <a:rPr sz="800" b="0" i="0">
                <a:solidFill>
                  <a:srgbClr val="7EE787"/>
                </a:solidFill>
                <a:latin typeface="Courier New"/>
                <a:ea typeface="Courier New"/>
              </a:rPr>
              <a:t>@m.Ts.ToUnixTimeMilliseconds()</a:t>
            </a: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,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  cpu: @m.CpuUsagePercent...},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];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new Date(p.t)는 밀리초 숫자를 그대로 받음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→ 이후 코드는 수정 불필요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904488"/>
            <a:ext cx="3977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이후 "실제 실행/렌더링으로 검증"을 모든 단계의 기본 절차로 삼는 계기가 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4747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Calibri"/>
                <a:ea typeface="Calibri"/>
              </a:rPr>
              <a:t>TLS 핸드셰이크 모드 파라미터 누락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95528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  <a:ea typeface="Calibri"/>
              </a:rPr>
              <a:t>Bug #2 · Agent(client) 모드가 미정의 동작으로 실질 동작 안 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24128"/>
            <a:ext cx="8686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78992"/>
            <a:ext cx="4251960" cy="19659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33856"/>
            <a:ext cx="3977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  <a:latin typeface="Calibri"/>
                <a:ea typeface="Calibri"/>
              </a:rPr>
              <a:t>✕  문제 — mode 파라미터 없이 _mode 미정의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389888"/>
            <a:ext cx="4197096" cy="11887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81328"/>
            <a:ext cx="3922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발견 당시 - 생성자에 mode 파라미터 없음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ApmSession::ApmSession(socket, sslContext)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: _sslStream(move(socket), sslContext)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  // </a:t>
            </a:r>
            <a:r>
              <a:rPr sz="800" b="0" i="0">
                <a:solidFill>
                  <a:srgbClr val="FF6B6B"/>
                </a:solidFill>
                <a:latin typeface="Courier New"/>
                <a:ea typeface="Courier New"/>
              </a:rPr>
              <a:t>_mode 미초기화 → 미정의 동작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{ }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8B949E"/>
                </a:solidFill>
                <a:latin typeface="Courier New"/>
                <a:ea typeface="Courier New"/>
              </a:rPr>
              <a:t>// handshakeType 계산만 하고 실제로는 안 씀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async_handshake(</a:t>
            </a:r>
            <a:r>
              <a:rPr sz="800" b="0" i="0">
                <a:solidFill>
                  <a:srgbClr val="FF6B6B"/>
                </a:solidFill>
                <a:latin typeface="Courier New"/>
                <a:ea typeface="Courier New"/>
              </a:rPr>
              <a:t>stream_base::server</a:t>
            </a: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, ...);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078992"/>
            <a:ext cx="4251960" cy="196596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133856"/>
            <a:ext cx="3977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6A34A"/>
                </a:solidFill>
                <a:latin typeface="Calibri"/>
                <a:ea typeface="Calibri"/>
              </a:rPr>
              <a:t>✓  수정 — mode를 받아 실제로 사용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0872" y="1389888"/>
            <a:ext cx="4197096" cy="118872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1481328"/>
            <a:ext cx="3922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ApmSession::ApmSession(socket, sslContext,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  SessionMode mode)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: _sslStream(...), </a:t>
            </a:r>
            <a:r>
              <a:rPr sz="800" b="0" i="0">
                <a:solidFill>
                  <a:srgbClr val="7EE787"/>
                </a:solidFill>
                <a:latin typeface="Courier New"/>
                <a:ea typeface="Courier New"/>
              </a:rPr>
              <a:t>_mode(mode)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{ }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auto handshakeType = (_mode == Server)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    ? stream_base::server : stream_base::client;</a:t>
            </a:r>
          </a:p>
          <a:p>
            <a:pPr>
              <a:lnSpc>
                <a:spcPct val="115000"/>
              </a:lnSpc>
            </a:pP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async_handshake(</a:t>
            </a:r>
            <a:r>
              <a:rPr sz="800" b="0" i="0">
                <a:solidFill>
                  <a:srgbClr val="7EE787"/>
                </a:solidFill>
                <a:latin typeface="Courier New"/>
                <a:ea typeface="Courier New"/>
              </a:rPr>
              <a:t>handshakeType</a:t>
            </a:r>
            <a:r>
              <a:rPr sz="800" b="0" i="0">
                <a:solidFill>
                  <a:srgbClr val="CDD9E5"/>
                </a:solidFill>
                <a:latin typeface="Courier New"/>
                <a:ea typeface="Courier New"/>
              </a:rPr>
              <a:t>, ...);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24328"/>
            <a:ext cx="3977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  <a:ea typeface="Calibri"/>
              </a:rPr>
              <a:t>※ 수정 시점(2026-07-14) 스냅샷 — 이후 IPayloadSealer 추상화로 생성자에 sealer 파라미터가 하나 더 붙음(현재 4개).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127248"/>
            <a:ext cx="8686800" cy="167335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182112"/>
            <a:ext cx="84124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ourier New"/>
                <a:ea typeface="Courier New"/>
              </a:rPr>
              <a:t>// 그 외 적용 검증 중 발견한 버그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64992"/>
            <a:ext cx="187451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1" i="0">
                <a:solidFill>
                  <a:srgbClr val="6B7280"/>
                </a:solidFill>
                <a:latin typeface="Calibri"/>
                <a:ea typeface="Calibri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64992"/>
            <a:ext cx="3794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1" i="0">
                <a:solidFill>
                  <a:srgbClr val="6B7280"/>
                </a:solidFill>
                <a:latin typeface="Calibri"/>
                <a:ea typeface="Calibri"/>
              </a:rPr>
              <a:t>증상 → 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64992"/>
            <a:ext cx="2651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1" i="0">
                <a:solidFill>
                  <a:srgbClr val="6B7280"/>
                </a:solidFill>
                <a:latin typeface="Calibri"/>
                <a:ea typeface="Calibri"/>
              </a:rPr>
              <a:t>발견 방법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9584"/>
            <a:ext cx="841248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584448"/>
            <a:ext cx="187451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ApmSession 0바이트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584448"/>
            <a:ext cx="37947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빈 파일 그대로 컴파일 성공 → 내용 재작성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84448"/>
            <a:ext cx="26517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nm 심볼 직접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99332"/>
            <a:ext cx="187451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Storage 계층 3종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799332"/>
            <a:ext cx="37947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include 오타/빈 CMakeLists → 3건 직접 수정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99332"/>
            <a:ext cx="26517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클린 빌드 재검증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014216"/>
            <a:ext cx="187451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ComputeNetworkUsage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014216"/>
            <a:ext cx="37947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redefinition 컴파일 에러 → 중복 삭제+ComputeCpuUsage 복원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014216"/>
            <a:ext cx="26517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클린 빌드 재검증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229100"/>
            <a:ext cx="187451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TCP_INFO 연동(6-5)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229100"/>
            <a:ext cx="37947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링크/컴파일 에러 → 파일 4개 복원+타입명 오타 수정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29100"/>
            <a:ext cx="26517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nm 심볼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443984"/>
            <a:ext cx="187451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ManifestEmbeddedFileProvider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443984"/>
            <a:ext cx="37947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정적 리소스 404 → 패키지 참조 추가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443984"/>
            <a:ext cx="26517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374151"/>
                </a:solidFill>
                <a:latin typeface="Calibri"/>
                <a:ea typeface="Calibri"/>
              </a:rPr>
              <a:t>curl 실제 렌더링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4747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Calibri"/>
                <a:ea typeface="Calibri"/>
              </a:rPr>
              <a:t>실측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95528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  <a:ea typeface="Calibri"/>
              </a:rPr>
              <a:t>Measured, Not Assumed · "가볍다"는 주장을 수치로 뒷받침 — strace/proc 실측과 테스트 결과.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24128"/>
            <a:ext cx="8686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143000"/>
            <a:ext cx="548640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212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ourier New"/>
                <a:ea typeface="Courier New"/>
              </a:rPr>
              <a:t>// syscall 실측 (strace -c, 5분 정상 동작)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  <a:latin typeface="Calibri"/>
                <a:ea typeface="Calibri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48132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  <a:latin typeface="Calibri"/>
                <a:ea typeface="Calibri"/>
              </a:rPr>
              <a:t>횟수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48132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  <a:latin typeface="Calibri"/>
                <a:ea typeface="Calibri"/>
              </a:rPr>
              <a:t>비고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82496"/>
            <a:ext cx="521208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3736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epoll_wait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737360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ourier New"/>
                <a:ea typeface="Courier New"/>
              </a:rPr>
              <a:t>155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737360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6B7280"/>
                </a:solidFill>
                <a:latin typeface="Calibri"/>
                <a:ea typeface="Calibri"/>
              </a:rPr>
              <a:t>스핀 없이 블로킹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043684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043684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ourier New"/>
                <a:ea typeface="Courier New"/>
              </a:rPr>
              <a:t>460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04368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6B7280"/>
                </a:solidFill>
                <a:latin typeface="Calibri"/>
                <a:ea typeface="Calibri"/>
              </a:rPr>
              <a:t>TLS 수신+/proc 읽기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35000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openat / 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35000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ourier New"/>
                <a:ea typeface="Courier New"/>
              </a:rPr>
              <a:t>311 / 309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350008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6B7280"/>
                </a:solidFill>
                <a:latin typeface="Calibri"/>
                <a:ea typeface="Calibri"/>
              </a:rPr>
              <a:t>매 사이클 재오픈(32%)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65633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sendto / 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65633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ourier New"/>
                <a:ea typeface="Courier New"/>
              </a:rPr>
              <a:t>76 / 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656332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6B7280"/>
                </a:solidFill>
                <a:latin typeface="Calibri"/>
                <a:ea typeface="Calibri"/>
              </a:rPr>
              <a:t>TLS 전송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96265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getsockopt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2962656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ourier New"/>
                <a:ea typeface="Courier New"/>
              </a:rPr>
              <a:t>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962656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6B7280"/>
                </a:solidFill>
                <a:latin typeface="Calibri"/>
                <a:ea typeface="Calibri"/>
              </a:rPr>
              <a:t>TCP_INFO 조회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68979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  <a:ea typeface="Calibri"/>
              </a:rPr>
              <a:t>statfs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268979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ourier New"/>
                <a:ea typeface="Courier New"/>
              </a:rPr>
              <a:t>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268979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6B7280"/>
                </a:solidFill>
                <a:latin typeface="Calibri"/>
                <a:ea typeface="Calibri"/>
              </a:rPr>
              <a:t>디스크 사용량 조회(statvfs)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575303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74151"/>
                </a:solidFill>
                <a:latin typeface="Calibri"/>
                <a:ea typeface="Calibri"/>
              </a:rPr>
              <a:t>전체 syscall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575303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ourier New"/>
                <a:ea typeface="Courier New"/>
              </a:rPr>
              <a:t>1,921회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575303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6B7280"/>
                </a:solidFill>
                <a:latin typeface="Calibri"/>
                <a:ea typeface="Calibri"/>
              </a:rPr>
              <a:t>19.4ms, 대기가 압도적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88162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74151"/>
                </a:solidFill>
                <a:latin typeface="Calibri"/>
                <a:ea typeface="Calibri"/>
              </a:rPr>
              <a:t>RSS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88162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ourier New"/>
                <a:ea typeface="Courier New"/>
              </a:rPr>
              <a:t>13.8MB 고정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881628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6B7280"/>
                </a:solidFill>
                <a:latin typeface="Calibri"/>
                <a:ea typeface="Calibri"/>
              </a:rPr>
              <a:t>누수 없음(20샘플)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18795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74151"/>
                </a:solidFill>
                <a:latin typeface="Calibri"/>
                <a:ea typeface="Calibri"/>
              </a:rPr>
              <a:t>CPU 평균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18795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ourier New"/>
                <a:ea typeface="Courier New"/>
              </a:rPr>
              <a:t>0.017%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187952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6B7280"/>
                </a:solidFill>
                <a:latin typeface="Calibri"/>
                <a:ea typeface="Calibri"/>
              </a:rPr>
              <a:t>유휴 대기가 거의 전부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97880" y="1143000"/>
            <a:ext cx="3017520" cy="361188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129844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urier New"/>
                <a:ea typeface="Courier New"/>
              </a:rPr>
              <a:t>// 테스트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1517904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  <a:ea typeface="Calibri"/>
              </a:rPr>
              <a:t>17 / 17 통과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2103120"/>
            <a:ext cx="2651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374151"/>
                </a:solidFill>
                <a:latin typeface="Calibri"/>
                <a:ea typeface="Calibri"/>
              </a:rPr>
              <a:t>C++ GoogleTest 9개(AesGcmCipher/Payload) + </a:t>
            </a:r>
            <a:r>
              <a:rPr sz="830" b="0" i="0">
                <a:solidFill>
                  <a:srgbClr val="374151"/>
                </a:solidFill>
                <a:latin typeface="Calibri"/>
                <a:ea typeface="Calibri"/>
              </a:rPr>
              <a:t>.NET xUnit 8개(ReadExactAsync/DecryptAndParse).
</a:t>
            </a:r>
            <a:r>
              <a:rPr sz="830" b="0" i="0">
                <a:solidFill>
                  <a:srgbClr val="374151"/>
                </a:solidFill>
                <a:latin typeface="Calibri"/>
                <a:ea typeface="Calibri"/>
              </a:rPr>
              <a:t>Agent↔Collector도 AES-GCM으로 통일되면서, 이 9개가 두 구간 암호화 경로 모두를 커버 — 이전엔 AES-GCM만 테스트 있고 ARIA는 없는 비대칭이 있었음.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56032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Calibri"/>
                <a:ea typeface="Calibri"/>
              </a:rPr>
              <a:t>APM_Console 대시보드 실행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85800"/>
            <a:ext cx="8046720" cy="3749039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8B949E"/>
                </a:solidFill>
                <a:latin typeface="Calibri"/>
                <a:ea typeface="Calibri"/>
              </a:rPr>
              <a:t>[ /apm/dashboard 스크린샷 삽입 위치 ]</a:t>
            </a:r>
          </a:p>
          <a:p>
            <a:pPr algn="ctr"/>
            <a:r>
              <a:rPr sz="1000" b="0" i="0">
                <a:solidFill>
                  <a:srgbClr val="6E7681"/>
                </a:solidFill>
                <a:latin typeface="Calibri"/>
                <a:ea typeface="Calibri"/>
              </a:rPr>
              <a:t>Chart.js 그래프 5개 + SignalR 실시간 표(11컬럼) — Collector/Agent/APM_Console 실행 후 캡처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E7681"/>
                </a:solidFill>
                <a:latin typeface="Calibri"/>
                <a:ea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4747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F172A"/>
                </a:solidFill>
                <a:latin typeface="Calibri"/>
                <a:ea typeface="Calibri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95528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  <a:ea typeface="Calibri"/>
              </a:rPr>
              <a:t>Tech Stack · 프로젝트에서 실제 사용하고 검증한 기술.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24128"/>
            <a:ext cx="8686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21031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78992"/>
            <a:ext cx="2103120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78992"/>
            <a:ext cx="1920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네트워크 코어 (C++)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4630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C++20, Standalone Asio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8059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OS별 비동기 I/O 추상화(IOCP/epoll)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1488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CMake, GoogleTest, vcpkg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4917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Protobuf 직렬화+리플렉션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8346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메시지 프레이밍(PacketHeader)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31775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Windows API(GetSystemTimes/GetIfTable2/SIO_TCP_INFO)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1078992"/>
            <a:ext cx="21031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1078992"/>
            <a:ext cx="2103120" cy="3200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1078992"/>
            <a:ext cx="1920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보안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14630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TLS(asio::ssl, OpenSSL)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18059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AES-256-GCM(AEAD, 현재 사용)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21488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ARIA-256-CBC+HMAC(구현 경험)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24917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패딩 오라클 이해/대응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28346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최소 권한(setuid/setgid)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078992"/>
            <a:ext cx="21031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60" y="1078992"/>
            <a:ext cx="2103120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1078992"/>
            <a:ext cx="1920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데이터 / 저장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14630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SQLite3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18059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PostgreSQL/TimescaleDB(선택형)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21488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IMetricStore 추상화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4917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컴파일 타임 백엔드 선택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1078992"/>
            <a:ext cx="21031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1078992"/>
            <a:ext cx="2103120" cy="3200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1078992"/>
            <a:ext cx="1920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웹 대시보드 (.NET)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14630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.NET 8, ASP.NET Core MVC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18059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Entity Framework 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21488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SignalR 실시간 푸시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24917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AssemblyLoadContext 플러그인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2834640"/>
            <a:ext cx="18836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374151"/>
                </a:solidFill>
                <a:latin typeface="Calibri"/>
                <a:ea typeface="Calibri"/>
              </a:rPr>
              <a:t>·  xUnit, Chart.js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" y="3913632"/>
            <a:ext cx="8686800" cy="7132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968496"/>
            <a:ext cx="8412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  <a:ea typeface="Calibri"/>
              </a:rPr>
              <a:t>IPayloadSealer</a:t>
            </a:r>
            <a:r>
              <a:rPr sz="1000" b="0" i="0">
                <a:solidFill>
                  <a:srgbClr val="2563EB"/>
                </a:solidFill>
                <a:latin typeface="Calibri"/>
                <a:ea typeface="Calibri"/>
              </a:rPr>
              <a:t> → ARIA/AES 두 구현체를 세션 코드 변경 없이 교체 가능한 구조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20624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alibri"/>
                <a:ea typeface="Calibri"/>
              </a:rPr>
              <a:t>실제 마이그레이션이 main.cpp 몇 줄로 끝난 것 자체가 이 추상화의 값을 증명.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  <a:ea typeface="Calibri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4358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  <a:ea typeface="Calibri"/>
              </a:rPr>
              <a:t>APM/옵저버빌리티 에이전트 개발자  김서현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9344"/>
            <a:ext cx="502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73736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92224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  <a:latin typeface="Calibri"/>
                <a:ea typeface="Calibri"/>
              </a:rPr>
              <a:t>C++20 · Standalone Asio · TLS/AES-256-GCM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alibri"/>
                <a:ea typeface="Calibri"/>
              </a:rPr>
              <a:t>.NET 8 · SignalR · 도메인별 RCL 플러그인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420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  <a:latin typeface="Calibri"/>
                <a:ea typeface="Calibri"/>
              </a:rPr>
              <a:t>shkim4548@gmail.com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16352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  <a:ea typeface="Calibri"/>
              </a:rPr>
              <a:t>소스 코드 열람이 필요하신 경우 이메일로 요청해 주시면 공유해 드립니다.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00400"/>
            <a:ext cx="1188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563EB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62102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  <a:ea typeface="Calibri"/>
              </a:rPr>
              <a:t>수집 지표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200400"/>
            <a:ext cx="1188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563EB"/>
                </a:solidFill>
                <a:latin typeface="Calibri"/>
                <a:ea typeface="Calibri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62102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  <a:ea typeface="Calibri"/>
              </a:rPr>
              <a:t>테스트 통과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3200400"/>
            <a:ext cx="1188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563EB"/>
                </a:solidFill>
                <a:latin typeface="Calibri"/>
                <a:ea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3784" y="362102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  <a:ea typeface="Calibri"/>
              </a:rPr>
              <a:t>설계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5656" y="3200400"/>
            <a:ext cx="1188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563EB"/>
                </a:solidFill>
                <a:latin typeface="Calibri"/>
                <a:ea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656" y="362102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  <a:ea typeface="Calibri"/>
              </a:rPr>
              <a:t>버그 발견/수정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256032"/>
            <a:ext cx="3291840" cy="46177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28600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  <a:ea typeface="Calibri"/>
              </a:rPr>
              <a:t>[ 스크린샷/로고 자리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89204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9CA3AF"/>
                </a:solidFill>
                <a:latin typeface="Calibri"/>
                <a:ea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