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4" r:id="rId25"/>
    <p:sldId id="275" r:id="rId26"/>
    <p:sldId id="276" r:id="rId27"/>
    <p:sldId id="264" r:id="rId15"/>
    <p:sldId id="265" r:id="rId16"/>
    <p:sldId id="267" r:id="rId18"/>
    <p:sldId id="268" r:id="rId19"/>
    <p:sldId id="277" r:id="rId28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3429000" cy="310896"/>
          </a:xfrm>
          <a:prstGeom prst="roundRect">
            <a:avLst>
              <a:gd name="adj" fmla="val 40000"/>
            </a:avLst>
          </a:prstGeom>
          <a:solidFill>
            <a:srgbClr val="E8F5EC"/>
          </a:solidFill>
          <a:ln w="9525">
            <a:solidFill>
              <a:srgbClr val="B7D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3429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Mono CJK KR"/>
              </a:rPr>
              <a:t>전체</a:t>
            </a:r>
            <a:r>
              <a:rPr sz="1100" b="0">
                <a:solidFill>
                  <a:srgbClr val="1A7F37"/>
                </a:solidFill>
                <a:latin typeface="Noto Sans Mono"/>
              </a:rPr>
              <a:t> </a:t>
            </a:r>
            <a:r>
              <a:rPr sz="1100" b="0">
                <a:solidFill>
                  <a:srgbClr val="1A7F37"/>
                </a:solidFill>
                <a:latin typeface="Noto Sans Mono CJK KR"/>
              </a:rPr>
              <a:t>파이프라인</a:t>
            </a:r>
            <a:r>
              <a:rPr sz="1100" b="0">
                <a:solidFill>
                  <a:srgbClr val="1A7F37"/>
                </a:solidFill>
                <a:latin typeface="Noto Sans Mono"/>
              </a:rPr>
              <a:t> end-to-end </a:t>
            </a:r>
            <a:r>
              <a:rPr sz="1100" b="0">
                <a:solidFill>
                  <a:srgbClr val="1A7F37"/>
                </a:solidFill>
                <a:latin typeface="Noto Sans Mono CJK KR"/>
              </a:rPr>
              <a:t>동작</a:t>
            </a:r>
            <a:r>
              <a:rPr sz="1100" b="0">
                <a:solidFill>
                  <a:srgbClr val="1A7F37"/>
                </a:solidFill>
                <a:latin typeface="Noto Sans Mono"/>
              </a:rPr>
              <a:t> · </a:t>
            </a:r>
            <a:r>
              <a:rPr sz="1100" b="0">
                <a:solidFill>
                  <a:srgbClr val="1A7F37"/>
                </a:solidFill>
                <a:latin typeface="Noto Sans Mono CJK KR"/>
              </a:rPr>
              <a:t>실측</a:t>
            </a:r>
            <a:r>
              <a:rPr sz="1100" b="0">
                <a:solidFill>
                  <a:srgbClr val="1A7F37"/>
                </a:solidFill>
                <a:latin typeface="Noto Sans Mono"/>
              </a:rPr>
              <a:t> </a:t>
            </a:r>
            <a:r>
              <a:rPr sz="1100" b="0">
                <a:solidFill>
                  <a:srgbClr val="1A7F37"/>
                </a:solidFill>
                <a:latin typeface="Noto Sans Mono CJK KR"/>
              </a:rPr>
              <a:t>검증</a:t>
            </a:r>
            <a:r>
              <a:rPr sz="1100" b="0">
                <a:solidFill>
                  <a:srgbClr val="1A7F37"/>
                </a:solidFill>
                <a:latin typeface="Noto Sans Mono"/>
              </a:rPr>
              <a:t> </a:t>
            </a:r>
            <a:r>
              <a:rPr sz="1100" b="0">
                <a:solidFill>
                  <a:srgbClr val="1A7F37"/>
                </a:solidFill>
                <a:latin typeface="Noto Sans Mono CJK KR"/>
              </a:rPr>
              <a:t>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969DA"/>
                </a:solidFill>
                <a:latin typeface="Noto Sans Mono"/>
              </a:rPr>
              <a:t>APM Agent &amp;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476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2328"/>
                </a:solidFill>
                <a:latin typeface="Noto Sans Mono CJK KR"/>
              </a:rPr>
              <a:t>경량</a:t>
            </a:r>
            <a:r>
              <a:rPr sz="27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700" b="1">
                <a:solidFill>
                  <a:srgbClr val="1F2328"/>
                </a:solidFill>
                <a:latin typeface="Noto Sans Mono CJK KR"/>
              </a:rPr>
              <a:t>모니터링</a:t>
            </a:r>
            <a:r>
              <a:rPr sz="27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700" b="1">
                <a:solidFill>
                  <a:srgbClr val="1F2328"/>
                </a:solidFill>
                <a:latin typeface="Noto Sans Mono CJK KR"/>
              </a:rPr>
              <a:t>에이전트</a:t>
            </a:r>
            <a:r>
              <a:rPr sz="2700" b="1">
                <a:solidFill>
                  <a:srgbClr val="1F2328"/>
                </a:solidFill>
                <a:latin typeface="Noto Sans Mono"/>
              </a:rPr>
              <a:t> + </a:t>
            </a:r>
            <a:r>
              <a:rPr sz="2700" b="1">
                <a:solidFill>
                  <a:srgbClr val="1F2328"/>
                </a:solidFill>
                <a:latin typeface="Noto Sans Mono CJK KR"/>
              </a:rPr>
              <a:t>실시간</a:t>
            </a:r>
            <a:r>
              <a:rPr sz="27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700" b="1">
                <a:solidFill>
                  <a:srgbClr val="1F2328"/>
                </a:solidFill>
                <a:latin typeface="Noto Sans Mono CJK KR"/>
              </a:rPr>
              <a:t>웹</a:t>
            </a:r>
            <a:r>
              <a:rPr sz="27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700" b="1">
                <a:solidFill>
                  <a:srgbClr val="1F2328"/>
                </a:solidFill>
                <a:latin typeface="Noto Sans Mono CJK KR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기존 IOCP 기반 TCP 서버 경험을 Standalone Asio로 재구성한 크로스플랫폼 네트워크 코어 위에, TLS·페이로드 이중 암호화(AES-256-GCM)·메시지 프레이밍·타입 안전 직렬화를 갖춘 수집 에이전트와, .NET 8 플러그인 아키텍처 기반 실시간 대시보드까지 1인 설계·구현. Console과 무관하게 같은 장비에서만 도는 Qt 로컬 대시보드+제어판도 별도 트랙으로 추가.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9584"/>
            <a:ext cx="2287645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29584"/>
            <a:ext cx="228764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0969DA"/>
                </a:solidFill>
                <a:latin typeface="Noto Sans Mono"/>
              </a:rPr>
              <a:t>C++20 / Standalone Asio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8581" y="3529584"/>
            <a:ext cx="2375976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8581" y="3529584"/>
            <a:ext cx="23759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0969DA"/>
                </a:solidFill>
                <a:latin typeface="Noto Sans Mono"/>
              </a:rPr>
              <a:t>TLS + AES-256-GCM (AEAD)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22573" y="3529584"/>
            <a:ext cx="962680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573" y="3529584"/>
            <a:ext cx="9626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Protobuf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3269" y="3529584"/>
            <a:ext cx="2806110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3269" y="3529584"/>
            <a:ext cx="280611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SQLite / TimescaleDB (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선택형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7395" y="3529584"/>
            <a:ext cx="2110983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7395" y="3529584"/>
            <a:ext cx="2110983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1A7F37"/>
                </a:solidFill>
                <a:latin typeface="Noto Sans Mono"/>
              </a:rPr>
              <a:t>.NET 8 / ASP.NET 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1845990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184599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1A7F37"/>
                </a:solidFill>
                <a:latin typeface="Noto Sans Mono"/>
              </a:rPr>
              <a:t>SignalR + Chart.js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76926" y="3931920"/>
            <a:ext cx="2794589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6926" y="3931920"/>
            <a:ext cx="2794589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0969DA"/>
                </a:solidFill>
                <a:latin typeface="Noto Sans Mono CJK KR"/>
              </a:rPr>
              <a:t>크로스플랫폼</a:t>
            </a:r>
            <a:r>
              <a:rPr sz="1050" b="0">
                <a:solidFill>
                  <a:srgbClr val="0969DA"/>
                </a:solidFill>
                <a:latin typeface="Noto Sans Mono"/>
              </a:rPr>
              <a:t>: Linux + Windows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9531" y="3931920"/>
            <a:ext cx="2955889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9531" y="3931920"/>
            <a:ext cx="2955889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 CJK KR"/>
              </a:rPr>
              <a:t>부하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테스트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+ strace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프로파일링</a:t>
            </a:r>
          </a:p>
        </p:txBody>
      </p:sp>
      <p:sp>
        <p:nvSpPr>
          <p:cNvPr id="60" name="Rounded Rectangle 60"/>
          <p:cNvSpPr/>
          <p:nvPr/>
        </p:nvSpPr>
        <p:spPr>
          <a:xfrm>
            <a:off x="8446860" y="3931920"/>
            <a:ext cx="2771145" cy="256032"/>
          </a:xfrm>
          <a:prstGeom prst="roundRect">
            <a:avLst>
              <a:gd name="adj" fmla="val 3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1"/>
          <p:cNvSpPr txBox="1"/>
          <p:nvPr/>
        </p:nvSpPr>
        <p:spPr>
          <a:xfrm>
            <a:off x="8446860" y="3931920"/>
            <a:ext cx="277114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Qt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로컬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대시보드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+IPC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제어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590288"/>
            <a:ext cx="1115568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488289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5838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수집 지표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88289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35838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동시 접속 부하 테스트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88289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535838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테스트 통과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88289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13.8MB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358384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RSS 5분 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프로젝트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한눈에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6128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63677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수집 지표 종류(CPU/메모리/디스크/네트워크/TCP)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9601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16128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163677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단위 테스트 전부 통과(C++ 18 + .NET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9601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116128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63677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동시 접속 부하 테스트(자체 제작 LoadTester)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2316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62432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13.8MB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9981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RSS 5분간 완전 고정(누수 없음)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42316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62432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2 /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309981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OS 빌드+실행 검증(Linux, Windows)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42316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262432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099816"/>
            <a:ext cx="31272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Qt 로컬 제어 명령 실측 검증(시작/중지/재연결/로그레벨)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5216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 w="9525">
            <a:solidFill>
              <a:srgbClr val="AF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852160"/>
            <a:ext cx="10716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"가볍다"는 주장을 수치로 뒷받침 — 모든 지표는 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strace/proc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실측</a:t>
            </a:r>
            <a:r>
              <a:rPr sz="1300" b="0">
                <a:solidFill>
                  <a:srgbClr val="59636E"/>
                </a:solidFill>
                <a:latin typeface="Noto Sans CJK KR"/>
              </a:rPr>
              <a:t>과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실제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실행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검증</a:t>
            </a:r>
            <a:r>
              <a:rPr sz="1300" b="0">
                <a:solidFill>
                  <a:srgbClr val="59636E"/>
                </a:solidFill>
                <a:latin typeface="Noto Sans CJK KR"/>
              </a:rPr>
              <a:t> 결과, 추정치가 아니다.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전체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시스템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PROJECT_TECHNICAL_REVIEW.md §1 전체 파이프라인 — Agent → Collector → APM_Console 원격 경로 + Qt 로컬 대시보드(같은 장비, Console과 무관).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47672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93392"/>
            <a:ext cx="64008" cy="32004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112264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969DA"/>
                </a:solidFill>
                <a:latin typeface="Noto Sans Mono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14600"/>
            <a:ext cx="2880360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ResourceCollector — CPU/메모리/디스크/네트워크/TCP 수집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Protobuf 직렬화(apm::Metric)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PacketHeader{size,id} 프레이밍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AesGcmPayload::Seal() — AES-256-GCM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36776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6E7781"/>
                </a:solidFill>
                <a:latin typeface="Noto Sans Mono"/>
              </a:rPr>
              <a:t>TLS(asio::ssl)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40480" y="2423160"/>
            <a:ext cx="594360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947672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93392"/>
            <a:ext cx="64008" cy="320040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112264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F222E"/>
                </a:solidFill>
                <a:latin typeface="Noto Sans Mono"/>
              </a:rPr>
              <a:t>Collector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441448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asio::io_context —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비동기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I/O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코어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788920"/>
            <a:ext cx="2880360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PacketHandler → 타입 안전 디스패치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IMetricStore — SQLite / TimescaleDB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ResilientSender — 재연결 큐잉 재전송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AesGcmPayload::Seal() — AES-256-GCM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636776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6E7781"/>
                </a:solidFill>
                <a:latin typeface="Noto Sans Mono"/>
              </a:rPr>
              <a:t>TLS(</a:t>
            </a:r>
            <a:r>
              <a:rPr sz="950" b="0">
                <a:solidFill>
                  <a:srgbClr val="6E7781"/>
                </a:solidFill>
                <a:latin typeface="Noto Sans Mono CJK KR"/>
              </a:rPr>
              <a:t>전용</a:t>
            </a:r>
            <a:r>
              <a:rPr sz="9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950" b="0">
                <a:solidFill>
                  <a:srgbClr val="6E7781"/>
                </a:solidFill>
                <a:latin typeface="Noto Sans Mono CJK KR"/>
              </a:rPr>
              <a:t>인증서</a:t>
            </a:r>
            <a:r>
              <a:rPr sz="950" b="0">
                <a:solidFill>
                  <a:srgbClr val="6E7781"/>
                </a:solidFill>
                <a:latin typeface="Noto Sans Mono"/>
              </a:rPr>
              <a:t>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2400" y="2423160"/>
            <a:ext cx="594360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1947672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993392"/>
            <a:ext cx="64008" cy="3200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2112264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9A6700"/>
                </a:solidFill>
                <a:latin typeface="Noto Sans Mono"/>
              </a:rPr>
              <a:t>APM_Console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2441448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ApmConsole.Host — .NET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2788920"/>
            <a:ext cx="2880360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MetricsReceiverService — TcpListener+SslStream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AesGcm 복호화 → Metric.Parser.ParseFrom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ApmDbContext(SQLite) 저장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MetricsHub(SignalR) 실시간 브로드캐스트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/apm/dashboard — Chart.js 그래프 5개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7784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 w="9525">
            <a:solidFill>
              <a:srgbClr val="AF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577840"/>
            <a:ext cx="10716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F2328"/>
                </a:solidFill>
                <a:latin typeface="Noto Sans Mono CJK KR"/>
              </a:rPr>
              <a:t>핵심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— Collector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는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두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역할을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동시에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한다</a:t>
            </a:r>
            <a:r>
              <a:rPr sz="1250" b="0">
                <a:solidFill>
                  <a:srgbClr val="59636E"/>
                </a:solidFill>
                <a:latin typeface="Noto Sans CJK KR"/>
              </a:rPr>
              <a:t>: (1) Agent 데이터를 로컬 SQLite(apm_metrics.db)에 저장하는 "수집 서버", (2) 저장한 데이터를 APM_Console로 넘기는 "중계자" — 이 둘은 서로 독립적이다. Qt 로컬 대시보드는 이 apm_metrics.db와 Agent의 agent_alerts.db를 직접 읽는 세 번째 채널로, Console과는 완전히 무관하게 동작한다(로컬 IPC로 Agent 제어도 겸함).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Collector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Collector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내부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구조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스레드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5라운드에 걸친 스케일 개선(12~15p)이 실제로 어떤 스레드 배치로 귀결됐는지 — 공유 상태는 정확히 한 스레드만 건드리게 설계.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11155680" cy="114300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55064"/>
            <a:ext cx="64008" cy="105156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773936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969DA"/>
                </a:solidFill>
                <a:latin typeface="Noto Sans Mono CJK KR"/>
              </a:rPr>
              <a:t>네트워크</a:t>
            </a:r>
            <a:r>
              <a:rPr sz="1600" b="1">
                <a:solidFill>
                  <a:srgbClr val="0969DA"/>
                </a:solidFill>
                <a:latin typeface="Noto Sans Mono"/>
              </a:rPr>
              <a:t> </a:t>
            </a:r>
            <a:r>
              <a:rPr sz="1600" b="1">
                <a:solidFill>
                  <a:srgbClr val="0969DA"/>
                </a:solidFill>
                <a:latin typeface="Noto Sans Mono CJK KR"/>
              </a:rPr>
              <a:t>스레드</a:t>
            </a:r>
            <a:r>
              <a:rPr sz="1600" b="1">
                <a:solidFill>
                  <a:srgbClr val="0969DA"/>
                </a:solidFill>
                <a:latin typeface="Noto Sans Mono"/>
              </a:rPr>
              <a:t>(</a:t>
            </a:r>
            <a:r>
              <a:rPr sz="1600" b="1">
                <a:solidFill>
                  <a:srgbClr val="0969DA"/>
                </a:solidFill>
                <a:latin typeface="Noto Sans Mono CJK KR"/>
              </a:rPr>
              <a:t>메인</a:t>
            </a:r>
            <a:r>
              <a:rPr sz="1600" b="1">
                <a:solidFill>
                  <a:srgbClr val="0969DA"/>
                </a:solidFill>
                <a:latin typeface="Noto Sans Mono"/>
              </a:rPr>
              <a:t>) — asio::io_context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76272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accept · TLS 핸드셰이크 · PacketHandler 디스패치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저장/로깅은 직접 실행하지 않고 Push()만 하고 즉시 리턴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788920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6E7781"/>
                </a:solidFill>
                <a:latin typeface="Noto Sans Mono"/>
              </a:rPr>
              <a:t>Push(</a:t>
            </a:r>
            <a:r>
              <a:rPr sz="950" b="0">
                <a:solidFill>
                  <a:srgbClr val="6E7781"/>
                </a:solidFill>
                <a:latin typeface="Noto Sans Mono CJK KR"/>
              </a:rPr>
              <a:t>저장</a:t>
            </a:r>
            <a:r>
              <a:rPr sz="9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950" b="0">
                <a:solidFill>
                  <a:srgbClr val="6E7781"/>
                </a:solidFill>
                <a:latin typeface="Noto Sans Mono CJK KR"/>
              </a:rPr>
              <a:t>요청</a:t>
            </a:r>
            <a:r>
              <a:rPr sz="950" b="0">
                <a:solidFill>
                  <a:srgbClr val="6E7781"/>
                </a:solidFill>
                <a:latin typeface="Noto Sans Mono"/>
              </a:rPr>
              <a:t>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80360" y="2971800"/>
            <a:ext cx="274320" cy="219456"/>
          </a:xfrm>
          <a:prstGeom prst="downArrow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788920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6E7781"/>
                </a:solidFill>
                <a:latin typeface="Noto Sans Mono"/>
              </a:rPr>
              <a:t>Push(</a:t>
            </a:r>
            <a:r>
              <a:rPr sz="950" b="0">
                <a:solidFill>
                  <a:srgbClr val="6E7781"/>
                </a:solidFill>
                <a:latin typeface="Noto Sans Mono CJK KR"/>
              </a:rPr>
              <a:t>로그</a:t>
            </a:r>
            <a:r>
              <a:rPr sz="9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950" b="0">
                <a:solidFill>
                  <a:srgbClr val="6E7781"/>
                </a:solidFill>
                <a:latin typeface="Noto Sans Mono CJK KR"/>
              </a:rPr>
              <a:t>요청</a:t>
            </a:r>
            <a:r>
              <a:rPr sz="950" b="0">
                <a:solidFill>
                  <a:srgbClr val="6E7781"/>
                </a:solidFill>
                <a:latin typeface="Noto Sans Mono"/>
              </a:rPr>
              <a:t>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275320" y="2971800"/>
            <a:ext cx="274320" cy="219456"/>
          </a:xfrm>
          <a:prstGeom prst="downArrow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24612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91840"/>
            <a:ext cx="64008" cy="146304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410712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7F37"/>
                </a:solidFill>
                <a:latin typeface="Noto Sans Mono"/>
              </a:rPr>
              <a:t>metricStoreQueue </a:t>
            </a:r>
            <a:r>
              <a:rPr sz="1600" b="1">
                <a:solidFill>
                  <a:srgbClr val="1A7F37"/>
                </a:solidFill>
                <a:latin typeface="Noto Sans Mono CJK KR"/>
              </a:rPr>
              <a:t>워커</a:t>
            </a:r>
            <a:r>
              <a:rPr sz="16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600" b="1">
                <a:solidFill>
                  <a:srgbClr val="1A7F37"/>
                </a:solidFill>
                <a:latin typeface="Noto Sans Mono CJK KR"/>
              </a:rPr>
              <a:t>스레드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813048"/>
            <a:ext cx="498348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SqliteMetricStore::Store() 실행 — SQLite WAL 모드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Round 2에서 신설(1-7-b) — 네트워크 스레드 블로킹 해소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64008" cy="146304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3410712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A7F37"/>
                </a:solidFill>
                <a:latin typeface="Noto Sans Mono"/>
              </a:rPr>
              <a:t>consoleLogQueue </a:t>
            </a:r>
            <a:r>
              <a:rPr sz="1600" b="1">
                <a:solidFill>
                  <a:srgbClr val="1A7F37"/>
                </a:solidFill>
                <a:latin typeface="Noto Sans Mono CJK KR"/>
              </a:rPr>
              <a:t>워커</a:t>
            </a:r>
            <a:r>
              <a:rPr sz="16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600" b="1">
                <a:solidFill>
                  <a:srgbClr val="1A7F37"/>
                </a:solidFill>
                <a:latin typeface="Noto Sans Mono CJK KR"/>
              </a:rPr>
              <a:t>스레드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813048"/>
            <a:ext cx="498348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콘솔 로그 조립+출력 전담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런타임 중 유일하게 stdout/stderr를 건드리는 스레드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· Round 4에서 신설(1-7-e/f)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8640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 w="9525">
            <a:solidFill>
              <a:srgbClr val="AF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486400"/>
            <a:ext cx="107167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328"/>
                </a:solidFill>
                <a:latin typeface="Noto Sans Mono CJK KR"/>
              </a:rPr>
              <a:t>설계</a:t>
            </a:r>
            <a:r>
              <a:rPr sz="12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00" b="1">
                <a:solidFill>
                  <a:srgbClr val="1F2328"/>
                </a:solidFill>
                <a:latin typeface="Noto Sans Mono CJK KR"/>
              </a:rPr>
              <a:t>원칙</a:t>
            </a:r>
            <a:r>
              <a:rPr sz="120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1200" b="1">
                <a:solidFill>
                  <a:srgbClr val="1F2328"/>
                </a:solidFill>
                <a:latin typeface="Noto Sans Mono CJK KR"/>
              </a:rPr>
              <a:t>공유</a:t>
            </a:r>
            <a:r>
              <a:rPr sz="12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00" b="1">
                <a:solidFill>
                  <a:srgbClr val="1F2328"/>
                </a:solidFill>
                <a:latin typeface="Noto Sans Mono CJK KR"/>
              </a:rPr>
              <a:t>상태는</a:t>
            </a:r>
            <a:r>
              <a:rPr sz="12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00" b="1">
                <a:solidFill>
                  <a:srgbClr val="1F2328"/>
                </a:solidFill>
                <a:latin typeface="Noto Sans Mono CJK KR"/>
              </a:rPr>
              <a:t>정확히</a:t>
            </a:r>
            <a:r>
              <a:rPr sz="12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00" b="1">
                <a:solidFill>
                  <a:srgbClr val="1F2328"/>
                </a:solidFill>
                <a:latin typeface="Noto Sans Mono CJK KR"/>
              </a:rPr>
              <a:t>한</a:t>
            </a:r>
            <a:r>
              <a:rPr sz="12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00" b="1">
                <a:solidFill>
                  <a:srgbClr val="1F2328"/>
                </a:solidFill>
                <a:latin typeface="Noto Sans Mono CJK KR"/>
              </a:rPr>
              <a:t>스레드만</a:t>
            </a:r>
            <a:r>
              <a:rPr sz="1200" b="0">
                <a:solidFill>
                  <a:srgbClr val="59636E"/>
                </a:solidFill>
                <a:latin typeface="Noto Sans CJK KR"/>
              </a:rPr>
              <a:t> — stdin은 별도 스레드로 읽되 실제 전송은 asio::post()로 네트워크 스레드에 위임(락 불필요). 단, 워커가 1개→3개로 늘며 스레드 간 락 경합(futex)이 300-agent 규모의 새 병목으로 떠올랐다(12~15p 참고) — 트레이드오프 없는 개선은 없었다.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How The Numbers Are Actually 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지표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수집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— OS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커널에서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직접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ResourceCollector(C++, Linux)가 /proc 파일시스템·소켓 옵션을 직접 파싱 — 라이브러리 뒤에 숨지 않고 계산 방식을 직접 결정했다.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7781"/>
                </a:solidFill>
                <a:latin typeface="Noto Sans Mono CJK KR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5910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7781"/>
                </a:solidFill>
                <a:latin typeface="Noto Sans Mono CJK KR"/>
              </a:rPr>
              <a:t>소스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91056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7781"/>
                </a:solidFill>
                <a:latin typeface="Noto Sans Mono CJK KR"/>
              </a:rPr>
              <a:t>핵심</a:t>
            </a:r>
            <a:r>
              <a:rPr sz="13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300" b="0">
                <a:solidFill>
                  <a:srgbClr val="6E7781"/>
                </a:solidFill>
                <a:latin typeface="Noto Sans Mono CJK KR"/>
              </a:rPr>
              <a:t>포인트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975104"/>
            <a:ext cx="11064240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04825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CPU 사용률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48256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/proc/stat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48256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누적 jiffies라 두 샘플 사이 델타로 계산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2505456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2523744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메모리 사용량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23744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/proc/meminfo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523744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MemFree가 아니라 MemAvailable 사용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298094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999232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네트워크 대역폭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99923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/proc/net/dev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999232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인터페이스별 누적 바이트 델타, steady_clock으로 실경과시간 측정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3456432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474720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TCP 연결 품질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474720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getsockopt(TCP_INFO)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474720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커널이 이미 추적 중인 RTT/재전송을 그대로 조회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931920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95020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디스크 사용량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950208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statvfs()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950208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POSIX 표준, 블록 수×블록 크기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4407408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557784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 w="9525">
            <a:solidFill>
              <a:srgbClr val="AF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577840"/>
            <a:ext cx="10716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F2328"/>
                </a:solidFill>
                <a:latin typeface="Noto Sans Mono CJK KR"/>
              </a:rPr>
              <a:t>왜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MemAvailable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인가</a:t>
            </a:r>
            <a:r>
              <a:rPr sz="1250" b="0">
                <a:solidFill>
                  <a:srgbClr val="59636E"/>
                </a:solidFill>
                <a:latin typeface="Noto Sans CJK KR"/>
              </a:rPr>
              <a:t> — Linux는 남는 메모리를 페이지 캐시로 적극 활용한다. MemFree만 보면 "거의 다 찼다"는 착시가 생기는데, MemAvailable은 즉시 회수 가능한 캐시까지 커널이 계산해 제공하는 값이라 체감 여유 메모리에 더 가깝다.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설계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결정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2423160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06070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01. Standalone Asio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채택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42646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기존 서버는 Windows IOCP에 강결합 — Linux 등 다른 OS에서 전혀 동작 안 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02082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OS별 비동기 I/O(IOCP/epoll)를 직접 분기하지 않고 이를 추상화하는 Standalone Asio 채택.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61518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950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Linux에서 빌드+실행 검증 완료 — 실무 서버 환경에 즉시 적용 가능한 크로스플랫폼 네트워크 계층 확보.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11155680" cy="2423160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66674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03. ARIA-CBC+HMAC → AES-GCM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마이그레이션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03250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0682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수동 조합(Encrypt-then-MAC) 방식이라 순서를 잘못 짜면 패딩 오라클이 재발할 여지.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" y="462686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0118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AEAD인 GCM은 암호화·인증을 한 번에 처리 — 조합 실수가 구조적으로 불가능. 두 구간 모두 통일.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522122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9554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ARIA 구현·검증 경험은 코드/문서로 보존, 마이그레이션 후 실제 실행으로 재검증.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설계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결정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2423160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06070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06. IMetricStore —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컴파일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타임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저장소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42646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SQLite(경량)/TimescaleDB(시계열 특화) 둘 다 지원하고 싶지만, 안 쓰는 백엔드 의존성이 남으면 안 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02082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런타임 분기 대신 인터페이스 + CMake 옵션으로 컴파일 타임에 하나만 선택.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61518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950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ldd로 libpq 미링크 실측 확인 — Postgres 미설치 환경에서도 빌드+실행 가능.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11155680" cy="2770632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66674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09. Windows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포팅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+ Smart App Control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03250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0682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빌드는 성공했는데 실행 시 원인 불명으로 멈춤.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" y="4626864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01184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Windows 이벤트 로그로 추적 — Smart App Control이 서명 안 된 vcpkg DLL 로딩을 차단 중이었음. 보안 설정을 낮추는 대신 정적 링크로 전환.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5394960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7725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x64-windows-static로 외부 DLL 0개 완전 정적 빌드 — TLS+AES-GCM 통신·리소스 수집 전체 파이프라인 Windows 재검증.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Operational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"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메트릭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수집기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"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에서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"APM"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시스템 리소스만 재는 걸 넘어, 운영 중 실제로 쓰는 4가지 기능을 순서대로 추가.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01.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임계치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기반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알림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21408"/>
            <a:ext cx="5038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상태 전이 시에만(OK→Alert→Resolved) 알림 — Zabbix/Nagios 방식. 임계치는 DB 저장+UI 편집.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" y="2962656"/>
            <a:ext cx="5038344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088" y="309067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0969DA"/>
                </a:solidFill>
                <a:latin typeface="Noto Sans Mono"/>
              </a:rPr>
              <a:t>→ </a:t>
            </a:r>
            <a:r>
              <a:rPr sz="1100" b="0">
                <a:solidFill>
                  <a:srgbClr val="59636E"/>
                </a:solidFill>
                <a:latin typeface="Noto Sans CJK KR"/>
              </a:rPr>
              <a:t>현재 상태는 매번 DB 재조회로 판단(메모리 캐시 아님) — 프로세스 재시작에도 안 깨짐. 전이 로직은 순수 함수로 분리해 단위 테스트.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55648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02.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데이터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보존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21408"/>
            <a:ext cx="5038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TimescaleDB는 네이티브 add_retention_policy(), SQLite는 직접 DELETE — 호출부 API는 통일.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9088" y="2962656"/>
            <a:ext cx="5038344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9088" y="309067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0969DA"/>
                </a:solidFill>
                <a:latin typeface="Noto Sans Mono"/>
              </a:rPr>
              <a:t>→ </a:t>
            </a:r>
            <a:r>
              <a:rPr sz="1100" b="0">
                <a:solidFill>
                  <a:srgbClr val="59636E"/>
                </a:solidFill>
                <a:latin typeface="Noto Sans CJK KR"/>
              </a:rPr>
              <a:t>Metrics 기본 30일, AlertRecord는 180일 — 백엔드별 구현은 달라도 정책 값은 공유.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3989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904488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03.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함수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/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트랜잭션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계측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270248"/>
            <a:ext cx="5038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RAII 스코프 기반 — "우리 APM으로 우리 자신을 계측". 기존 메트릭 전송 파이프라인 재사용.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" y="5111496"/>
            <a:ext cx="5038344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4088" y="523951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0969DA"/>
                </a:solidFill>
                <a:latin typeface="Noto Sans Mono"/>
              </a:rPr>
              <a:t>→ </a:t>
            </a:r>
            <a:r>
              <a:rPr sz="1100" b="0">
                <a:solidFill>
                  <a:srgbClr val="59636E"/>
                </a:solidFill>
                <a:latin typeface="Noto Sans CJK KR"/>
              </a:rPr>
              <a:t>APM_TRACE_SCOPE 매크로 한 줄로 계측 — Collector.HandleMetricPacket이 첫 적용 사례.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3989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904488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04.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백분위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/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집계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통계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70248"/>
            <a:ext cx="5038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SQLite엔 PERCENTILE_CONT 없음 — 시간 창으로 거른 span을 메모리에서 C#으로 직접 계산, 백엔드 무관 통일.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19088" y="5111496"/>
            <a:ext cx="5038344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19088" y="523951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0969DA"/>
                </a:solidFill>
                <a:latin typeface="Noto Sans Mono"/>
              </a:rPr>
              <a:t>→ </a:t>
            </a:r>
            <a:r>
              <a:rPr sz="1100" b="0">
                <a:solidFill>
                  <a:srgbClr val="59636E"/>
                </a:solidFill>
                <a:latin typeface="Noto Sans CJK KR"/>
              </a:rPr>
              <a:t>선형 보간 PercentileCalculator(순수 함수) — p50/p95/p99, 시간 창 1h/24h/7d 선택.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Measured, Fixed, Re-measured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300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동시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접속까지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병목을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찾고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고치는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5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라운드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자체 제작 LoadTester(실제 Agent와 같은 코드 경로, in-process 다중 연결 시뮬레이션)로 매 라운드 재측정.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 CJK KR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910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100-agent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910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300-agent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9105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 CJK KR"/>
              </a:rPr>
              <a:t>비고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1920240"/>
            <a:ext cx="11064240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19933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Round 1(베이스라인)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9339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222E"/>
                </a:solidFill>
                <a:latin typeface="Noto Sans Mono"/>
              </a:rPr>
              <a:t>72/100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9339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222E"/>
                </a:solidFill>
                <a:latin typeface="Noto Sans Mono"/>
              </a:rPr>
              <a:t>71/300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9339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SQLite fdatasync가 네트워크 스레드 블로킹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234086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3591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Round 2(워커 스레드)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3591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7F37"/>
                </a:solidFill>
                <a:latin typeface="Noto Sans Mono"/>
              </a:rPr>
              <a:t>100/100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591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229/300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5915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저장 비동기화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70662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7249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Round 3(WAL)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7249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100/100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7249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250/300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72491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fdatasync↔fcntl 트레이드오프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07238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0906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Round 4(로깅 분리)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0906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100/100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0906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7F37"/>
                </a:solidFill>
                <a:latin typeface="Noto Sans Mono"/>
              </a:rPr>
              <a:t>300/300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0906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9636E"/>
                </a:solidFill>
                <a:latin typeface="Noto Sans CJK KR"/>
              </a:rPr>
              <a:t>콘솔 로깅 워커 분리, 전원 성공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343814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2920" y="3685032"/>
            <a:ext cx="11155680" cy="594360"/>
          </a:xfrm>
          <a:prstGeom prst="roundRect">
            <a:avLst>
              <a:gd name="adj" fmla="val 6000"/>
            </a:avLst>
          </a:prstGeom>
          <a:solidFill>
            <a:srgbClr val="EAF6EC"/>
          </a:solidFill>
          <a:ln w="9525">
            <a:solidFill>
              <a:srgbClr val="AF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685032"/>
            <a:ext cx="10716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F2328"/>
                </a:solidFill>
                <a:latin typeface="Noto Sans Mono CJK KR"/>
              </a:rPr>
              <a:t>최종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판단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단일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프로세스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범위를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여기서</a:t>
            </a:r>
            <a:r>
              <a:rPr sz="12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250" b="1">
                <a:solidFill>
                  <a:srgbClr val="1F2328"/>
                </a:solidFill>
                <a:latin typeface="Noto Sans Mono CJK KR"/>
              </a:rPr>
              <a:t>확정</a:t>
            </a:r>
            <a:r>
              <a:rPr sz="1250" b="0">
                <a:solidFill>
                  <a:srgbClr val="59636E"/>
                </a:solidFill>
                <a:latin typeface="Noto Sans CJK KR"/>
              </a:rPr>
              <a:t> — 남은 병목(futex, 스레드 간 락 경합)은 단일 프로세스 최적화가 아니라 Collector 수평 분산이 담당할 영역이라 판단, 여기서 범위를 확정했다.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4622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 CJK KR"/>
              </a:rPr>
              <a:t>접속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성공률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(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목표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대비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%) —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라운드별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추이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4736592"/>
            <a:ext cx="109728" cy="109728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470915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9636E"/>
                </a:solidFill>
                <a:latin typeface="Noto Sans Mono"/>
              </a:rPr>
              <a:t>100-agent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4736592"/>
            <a:ext cx="109728" cy="109728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79" y="470915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9636E"/>
                </a:solidFill>
                <a:latin typeface="Noto Sans Mono"/>
              </a:rPr>
              <a:t>300-agent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02920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Round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4519" y="5088636"/>
            <a:ext cx="6715353" cy="11887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74519" y="5234940"/>
            <a:ext cx="2238451" cy="118872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3881" y="5061204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72%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76979" y="5207508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41324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Round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74519" y="5472684"/>
            <a:ext cx="9326880" cy="11887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874519" y="5618988"/>
            <a:ext cx="7088428" cy="118872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65408" y="5445252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6956" y="5591556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76%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79729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Round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19" y="5856732"/>
            <a:ext cx="9326880" cy="11887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874519" y="6003036"/>
            <a:ext cx="7741310" cy="118872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65408" y="5829300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9838" y="5975604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83%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18134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Round 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74519" y="6240780"/>
            <a:ext cx="9326880" cy="11887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74519" y="6387084"/>
            <a:ext cx="9326880" cy="118872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65408" y="6213348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65408" y="6359652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F2328"/>
                </a:solidFill>
                <a:latin typeface="Noto Sans Mono"/>
              </a:rP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12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Round 1~2 — 72/100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하드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리밋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,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그리고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첫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시도의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크래시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2084832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060704"/>
            <a:ext cx="10716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// Round 1 —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병목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72/100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에서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하드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리밋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682496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100개 요청 중 72개만 성공, p95 34초.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2276856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strace -c 추적 — fdatasync/pwrite64가 syscall 시간 70%+, SQLite 동기 flush가 네트워크 스레드를 블로킹.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08960"/>
            <a:ext cx="11155680" cy="2258568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255264"/>
            <a:ext cx="10716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// Round 2 —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저장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비동기화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511296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 CJK KR"/>
              </a:rPr>
              <a:t>워커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스레드로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위임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첫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시도는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크래시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877056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기존 JobQueue 재사용 후 재실측 중 10초 만에 반복 크래시 — 원인 불명 락 버그 — 공유 코드는 건드리지 않고 우선 우회(원인은 이후 원본과 diff로 규명, 이관 중 생긴 결함).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645152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27448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9472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전용 std::mutex 기반 큐로 교체 → 100/100 전원 성공, p95 0ms/p99 1,010ms로 개선. 300-agent도 71→229로 3배 개선.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77256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3270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72 → 100/100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10819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Round 1 — 100-agent 하드 리밋 해소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63270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71 → 229/300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610819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Round 2 — 300-agent 접속 3배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13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Round 3~4 —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사라진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줄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알았던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비용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,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그리고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다음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층의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2084832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060704"/>
            <a:ext cx="10716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// Round 3 — "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사라졌다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"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는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착시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strace -f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로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다시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보니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,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비용은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그대로였다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682496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재실측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strace -c는 워커 스레드를 못 추적 — -f로 재보니 fdatasync 비용이 그대로(전체의 25%), WAL 도입 결정.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2276856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fdatasync -97%, WAL 공유메모리 락(fcntl)은 +437% — fsync 비용이 락 비용으로 형태만 바뀐 트레이드오프.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08960"/>
            <a:ext cx="11155680" cy="2084832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255264"/>
            <a:ext cx="10716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// Round 4 —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다음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층의</a:t>
            </a:r>
            <a:r>
              <a:rPr sz="105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050" b="0">
                <a:solidFill>
                  <a:srgbClr val="6E7781"/>
                </a:solidFill>
                <a:latin typeface="Noto Sans Mono CJK KR"/>
              </a:rPr>
              <a:t>병목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511296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 CJK KR"/>
              </a:rPr>
              <a:t>이번엔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콘솔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로깅이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1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877056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발견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300-agent 처리량 증가로 std::cout&lt;&lt;...&lt;&lt;endl(강제 flush)이 write syscall 92%로 새 1위.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471416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53712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45736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로그를 전용 워커 스레드로 분리 + endl → '\n' — 300개 전원(250→300) 접속 성공.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03520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5896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-97%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3445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Round 3 — fdatasync 시간 감소(WAL 적용)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45896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300/300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93445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Round 4 — 300-agent 전원 접속 성공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14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버그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스포트라이트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성능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최적화가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꺼버린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안전장치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(Round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1911095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4864" cy="1819655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04241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F222E"/>
                </a:solidFill>
                <a:latin typeface="Noto Sans Mono"/>
              </a:rPr>
              <a:t>✕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문제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—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로그를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워커로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옮겼더니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,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그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워커와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네트워크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스레드가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같은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스트림을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동시에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1371600"/>
            <a:ext cx="1069848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53896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원인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104058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sync_with_stdio(false)가 iostream/C stdio 동기화 안전장치를 없앴는데, accept 등 4곳의 cout/cerr가 여전히 네트워크 스레드에 남아 두 스레드가 같은 스트림에 동시 접근.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2121408"/>
            <a:ext cx="106984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03704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발견</a:t>
            </a:r>
            <a:r>
              <a:rPr sz="1000" b="1">
                <a:solidFill>
                  <a:srgbClr val="6E7781"/>
                </a:solidFill>
                <a:latin typeface="Noto Sans Mono"/>
              </a:rPr>
              <a:t> </a:t>
            </a:r>
            <a:r>
              <a:rPr sz="1000" b="1">
                <a:solidFill>
                  <a:srgbClr val="6E7781"/>
                </a:solidFill>
                <a:latin typeface="Noto Sans Mono CJK KR"/>
              </a:rPr>
              <a:t>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104058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100-agent 벤치마크 진단 로그를 직접 계측하다가 그 로그 자체가 문자 단위로 뒤섞여 나오는 것을 목격.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62655"/>
            <a:ext cx="11155680" cy="173736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08375"/>
            <a:ext cx="54864" cy="16459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090671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7F37"/>
                </a:solidFill>
                <a:latin typeface="Noto Sans Mono"/>
              </a:rPr>
              <a:t>✓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수정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—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남은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4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곳도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전부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같은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워커로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위임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3419855"/>
            <a:ext cx="106984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02151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원칙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94175"/>
            <a:ext cx="104058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"한 스레드만 스트림을 만진다" 원칙 적용 — sync_with_stdio(false)는 유지, 레이스만 제거.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" y="3995927"/>
            <a:ext cx="106984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078223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70247"/>
            <a:ext cx="104058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100-agent 스트레스에서 깨진 로그 줄 0건 — 순수 정확성 버그였음을 확인.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37175"/>
            <a:ext cx="11155680" cy="1273302"/>
          </a:xfrm>
          <a:prstGeom prst="roundRect">
            <a:avLst>
              <a:gd name="adj" fmla="val 3500"/>
            </a:avLst>
          </a:prstGeom>
          <a:solidFill>
            <a:srgbClr val="EAEEF2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946903"/>
            <a:ext cx="10863072" cy="10538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//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수정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전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—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네트워크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스레드에서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cout/cerr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를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직접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씀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CF222E"/>
                </a:solidFill>
                <a:latin typeface="Noto Sans Mono"/>
              </a:rPr>
              <a:t>if 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(!ec) { std::cout &lt;&lt; </a:t>
            </a:r>
            <a:r>
              <a:rPr sz="1100" b="0">
                <a:solidFill>
                  <a:srgbClr val="116329"/>
                </a:solidFill>
                <a:latin typeface="Noto Sans Mono"/>
              </a:rPr>
              <a:t>"[Collector] connection accepted"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 &lt;&lt; std::endl; }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//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수정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후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—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한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워커만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cout/cerr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를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건드리도록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통일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CF222E"/>
                </a:solidFill>
                <a:latin typeface="Noto Sans Mono"/>
              </a:rPr>
              <a:t>if 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(!ec) { </a:t>
            </a:r>
            <a:r>
              <a:rPr sz="1100" b="0">
                <a:solidFill>
                  <a:srgbClr val="0550AE"/>
                </a:solidFill>
                <a:latin typeface="Noto Sans Mono"/>
              </a:rPr>
              <a:t>consoleLogQueue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.Push([]() { std::cout &lt;&lt; </a:t>
            </a:r>
            <a:r>
              <a:rPr sz="1100" b="0">
                <a:solidFill>
                  <a:srgbClr val="116329"/>
                </a:solidFill>
                <a:latin typeface="Noto Sans Mono"/>
              </a:rPr>
              <a:t>"[Collector] connection accepted\n"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; });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15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Measured,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실측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"가볍다"는 주장을 수치로 뒷받침 — strace/proc 실측과 테스트 결과.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7781"/>
                </a:solidFill>
                <a:latin typeface="Noto Sans Mono CJK KR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910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7781"/>
                </a:solidFill>
                <a:latin typeface="Noto Sans Mono CJK KR"/>
              </a:rPr>
              <a:t>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591056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7781"/>
                </a:solidFill>
                <a:latin typeface="Noto Sans Mono CJK KR"/>
              </a:rPr>
              <a:t>비고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975104"/>
            <a:ext cx="11064240" cy="0"/>
          </a:xfrm>
          <a:prstGeom prst="line">
            <a:avLst/>
          </a:prstGeom>
          <a:ln w="9525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048256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fcntl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48256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885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048256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agent_alerts.db WAL 파일 잠금(Phase A 신규) — Collector와 같은 패턴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252374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2542032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전체 syscall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42032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3,005회 / 338.9ms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542032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5분(≈60사이클), Phase A 이후 재측정 — 여전히 0.11%로 무시 가능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3017520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3035808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"/>
              </a:rPr>
              <a:t>RSS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035808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"/>
              </a:rPr>
              <a:t>13.8MB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035808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15초 간격 20샘플 전부 동일 — 누수 없음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11296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9584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"/>
              </a:rPr>
              <a:t>CPU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사용률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529584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 CJK KR"/>
              </a:rPr>
              <a:t>평균</a:t>
            </a:r>
            <a:r>
              <a:rPr sz="1450" b="0">
                <a:solidFill>
                  <a:srgbClr val="1A7F37"/>
                </a:solidFill>
                <a:latin typeface="Noto Sans Mono"/>
              </a:rPr>
              <a:t> 0.11%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529584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syscall 총 시간 기준 — 유휴 대기가 거의 전부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005072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023360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 CJK KR"/>
              </a:rPr>
              <a:t>단위</a:t>
            </a:r>
            <a:r>
              <a:rPr sz="1450" b="0">
                <a:solidFill>
                  <a:srgbClr val="1A7F37"/>
                </a:solidFill>
                <a:latin typeface="Noto Sans Mono"/>
              </a:rPr>
              <a:t>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테스트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023360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"/>
              </a:rPr>
              <a:t>36 / 36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통과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023360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C++ GoogleTest 18개(암호화 9+Qt 알림판정 9) + .NET xUnit 18개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4498848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4517136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 CJK KR"/>
              </a:rPr>
              <a:t>스케일</a:t>
            </a:r>
            <a:r>
              <a:rPr sz="1450" b="0">
                <a:solidFill>
                  <a:srgbClr val="1A7F37"/>
                </a:solidFill>
                <a:latin typeface="Noto Sans Mono"/>
              </a:rPr>
              <a:t>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517136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"/>
              </a:rPr>
              <a:t>72→300/300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접속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517136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LoadTester 부하 실측 5라운드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4992624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5010912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"/>
              </a:rPr>
              <a:t>Windows 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빌드</a:t>
            </a:r>
            <a:r>
              <a:rPr sz="1450" b="0">
                <a:solidFill>
                  <a:srgbClr val="1A7F37"/>
                </a:solidFill>
                <a:latin typeface="Noto Sans Mono"/>
              </a:rPr>
              <a:t>/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010912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A7F37"/>
                </a:solidFill>
                <a:latin typeface="Noto Sans Mono CJK KR"/>
              </a:rPr>
              <a:t>외부</a:t>
            </a:r>
            <a:r>
              <a:rPr sz="1450" b="0">
                <a:solidFill>
                  <a:srgbClr val="1A7F37"/>
                </a:solidFill>
                <a:latin typeface="Noto Sans Mono"/>
              </a:rPr>
              <a:t> DLL 0</a:t>
            </a:r>
            <a:r>
              <a:rPr sz="1450" b="0">
                <a:solidFill>
                  <a:srgbClr val="1A7F37"/>
                </a:solidFill>
                <a:latin typeface="Noto Sans Mono CJK KR"/>
              </a:rPr>
              <a:t>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5010912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9636E"/>
                </a:solidFill>
                <a:latin typeface="Noto Sans CJK KR"/>
              </a:rPr>
              <a:t>vcpkg 정적 링크, TLS+AES-GCM 통신 실측 확인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5486400"/>
            <a:ext cx="11064240" cy="0"/>
          </a:xfrm>
          <a:prstGeom prst="line">
            <a:avLst/>
          </a:prstGeom>
          <a:ln w="6350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17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Running, Not Just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실제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실행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화면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Collector+Console을 함께 띄우고 실 트래픽을 흘려 직접 촬영 — 전부 실제 데이터.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"/>
              </a:rPr>
              <a:t>/apm/dashboard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01952"/>
            <a:ext cx="5440680" cy="426110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171200"/>
            <a:ext cx="5294376" cy="372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591056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"/>
              </a:rPr>
              <a:t>/apm/traces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01952"/>
            <a:ext cx="5440680" cy="426110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71200"/>
            <a:ext cx="5294376" cy="372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18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Running, Not Just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실제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실행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화면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Collector+Console을 함께 띄우고 실 트래픽을 흘려 직접 촬영 — 전부 실제 데이터.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"/>
              </a:rPr>
              <a:t>/apm/alerts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01952"/>
            <a:ext cx="5440680" cy="426110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171200"/>
            <a:ext cx="5294376" cy="372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591056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터미널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— Collector + LoadTester 300-agent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실행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01952"/>
            <a:ext cx="5440680" cy="426110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074339"/>
            <a:ext cx="5294376" cy="39163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19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기술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52728"/>
            <a:ext cx="5440680" cy="1865376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네트워크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코어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(C++)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801368"/>
            <a:ext cx="2181026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01368"/>
            <a:ext cx="218102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C++20, Standalone Asio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03704"/>
            <a:ext cx="3214115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03704"/>
            <a:ext cx="321411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OS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별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비동기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I/O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추상화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(IOCP/epoll)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606040"/>
            <a:ext cx="2357688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606040"/>
            <a:ext cx="235768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CMake, GoogleTest, vcpkg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3216" y="2606040"/>
            <a:ext cx="2330805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3216" y="2606040"/>
            <a:ext cx="233080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Protobuf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직렬화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+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리플렉션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52728"/>
            <a:ext cx="5440680" cy="1865376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53896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성능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프로파일링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/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동시성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1801368"/>
            <a:ext cx="2960644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801368"/>
            <a:ext cx="296064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strace(-c/-f) syscall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병목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203704"/>
            <a:ext cx="3552078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203704"/>
            <a:ext cx="355207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 CJK KR"/>
              </a:rPr>
              <a:t>부하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테스트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도구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자체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제작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(LoadTester)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2606" y="2203704"/>
            <a:ext cx="1278514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2606" y="2203704"/>
            <a:ext cx="127851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 CJK KR"/>
              </a:rPr>
              <a:t>워커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큐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606040"/>
            <a:ext cx="2230953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606040"/>
            <a:ext cx="223095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 CJK KR"/>
              </a:rPr>
              <a:t>데이터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레이스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진단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/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수정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00984"/>
            <a:ext cx="5440680" cy="1865376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502152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보안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설계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" y="3849624"/>
            <a:ext cx="1474378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849624"/>
            <a:ext cx="147437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TLS(asio::ssl)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69906" y="3849624"/>
            <a:ext cx="1739371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69906" y="3849624"/>
            <a:ext cx="173937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AES-256-GCM(AEAD)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" y="4251960"/>
            <a:ext cx="2695651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251960"/>
            <a:ext cx="269565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ARIA-256-CBC+HMAC(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구현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경험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" y="4654296"/>
            <a:ext cx="2342327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654296"/>
            <a:ext cx="23423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 CJK KR"/>
              </a:rPr>
              <a:t>최소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권한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(setuid/setgid)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300984"/>
            <a:ext cx="5440680" cy="1865376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502152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웹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대시보드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(.NET)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3849624"/>
            <a:ext cx="3064337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3849624"/>
            <a:ext cx="306433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.NET 8, ASP.NET Core MVC + Razor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74865" y="3849624"/>
            <a:ext cx="856061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4865" y="3849624"/>
            <a:ext cx="85606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EF 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088" y="4251960"/>
            <a:ext cx="856061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4251960"/>
            <a:ext cx="85606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SignalR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6589" y="4251960"/>
            <a:ext cx="2695651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6589" y="4251960"/>
            <a:ext cx="269565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AssemblyLoadContext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플러그인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19088" y="4654296"/>
            <a:ext cx="1562709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4654296"/>
            <a:ext cx="1562709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xUnit, Chart.js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349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5550408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데이터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/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저장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" y="5897880"/>
            <a:ext cx="1297716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5897880"/>
            <a:ext cx="129771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SQLite3(WAL)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93244" y="5897880"/>
            <a:ext cx="2876153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93244" y="5897880"/>
            <a:ext cx="287615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PostgreSQL/TimescaleDB(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선택형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4088" y="6300216"/>
            <a:ext cx="3909242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6300216"/>
            <a:ext cx="390924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EF Core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쿼리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번역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한계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진단</a:t>
            </a:r>
            <a:r>
              <a:rPr sz="1050" b="0">
                <a:solidFill>
                  <a:srgbClr val="59636E"/>
                </a:solidFill>
                <a:latin typeface="Noto Sans Mono"/>
              </a:rPr>
              <a:t> + raw SQL </a:t>
            </a:r>
            <a:r>
              <a:rPr sz="1050" b="0">
                <a:solidFill>
                  <a:srgbClr val="59636E"/>
                </a:solidFill>
                <a:latin typeface="Noto Sans Mono CJK KR"/>
              </a:rPr>
              <a:t>우회</a:t>
            </a:r>
          </a:p>
        </p:txBody>
      </p:sp>
      <p:sp>
        <p:nvSpPr>
          <p:cNvPr id="60" name="Rounded Rectangle 60"/>
          <p:cNvSpPr/>
          <p:nvPr/>
        </p:nvSpPr>
        <p:spPr>
          <a:xfrm>
            <a:off x="6217920" y="5226360"/>
            <a:ext cx="5440680" cy="126000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1"/>
          <p:cNvSpPr txBox="1"/>
          <p:nvPr/>
        </p:nvSpPr>
        <p:spPr>
          <a:xfrm>
            <a:off x="6419088" y="5406360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 CJK KR"/>
              </a:rPr>
              <a:t>로컬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300" b="1">
                <a:solidFill>
                  <a:srgbClr val="1F2328"/>
                </a:solidFill>
                <a:latin typeface="Noto Sans Mono CJK KR"/>
              </a:rPr>
              <a:t>데스크톱</a:t>
            </a:r>
            <a:r>
              <a:rPr sz="1300" b="1">
                <a:solidFill>
                  <a:srgbClr val="1F2328"/>
                </a:solidFill>
                <a:latin typeface="Noto Sans Mono"/>
              </a:rPr>
              <a:t> (Qt)</a:t>
            </a:r>
          </a:p>
        </p:txBody>
      </p:sp>
      <p:sp>
        <p:nvSpPr>
          <p:cNvPr id="62" name="Rounded Rectangle 62"/>
          <p:cNvSpPr/>
          <p:nvPr/>
        </p:nvSpPr>
        <p:spPr>
          <a:xfrm>
            <a:off x="6419088" y="5738968"/>
            <a:ext cx="3400000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3"/>
          <p:cNvSpPr txBox="1"/>
          <p:nvPr/>
        </p:nvSpPr>
        <p:spPr>
          <a:xfrm>
            <a:off x="6419088" y="5738968"/>
            <a:ext cx="3400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Qt 6 (Widgets/Sql/Charts/Network)</a:t>
            </a:r>
          </a:p>
        </p:txBody>
      </p:sp>
      <p:sp>
        <p:nvSpPr>
          <p:cNvPr id="64" name="Rounded Rectangle 64"/>
          <p:cNvSpPr/>
          <p:nvPr/>
        </p:nvSpPr>
        <p:spPr>
          <a:xfrm>
            <a:off x="6419088" y="6109864"/>
            <a:ext cx="2200000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5"/>
          <p:cNvSpPr txBox="1"/>
          <p:nvPr/>
        </p:nvSpPr>
        <p:spPr>
          <a:xfrm>
            <a:off x="6419088" y="6109864"/>
            <a:ext cx="2200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QThread + moveToThread</a:t>
            </a:r>
          </a:p>
        </p:txBody>
      </p:sp>
      <p:sp>
        <p:nvSpPr>
          <p:cNvPr id="66" name="Rounded Rectangle 66"/>
          <p:cNvSpPr/>
          <p:nvPr/>
        </p:nvSpPr>
        <p:spPr>
          <a:xfrm>
            <a:off x="8710528" y="6109864"/>
            <a:ext cx="2550000" cy="3108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7"/>
          <p:cNvSpPr txBox="1"/>
          <p:nvPr/>
        </p:nvSpPr>
        <p:spPr>
          <a:xfrm>
            <a:off x="8710528" y="6109864"/>
            <a:ext cx="2550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636E"/>
                </a:solidFill>
                <a:latin typeface="Noto Sans Mono"/>
              </a:rPr>
              <a:t>QLocalSocket(Unix socket)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20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2328"/>
                </a:solidFill>
                <a:latin typeface="Noto Sans Mono CJK KR"/>
              </a:rPr>
              <a:t>함께</a:t>
            </a:r>
            <a:r>
              <a:rPr sz="30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3000" b="1">
                <a:solidFill>
                  <a:srgbClr val="1F2328"/>
                </a:solidFill>
                <a:latin typeface="Noto Sans Mono CJK KR"/>
              </a:rPr>
              <a:t>일하고</a:t>
            </a:r>
            <a:r>
              <a:rPr sz="30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3000" b="1">
                <a:solidFill>
                  <a:srgbClr val="1F2328"/>
                </a:solidFill>
                <a:latin typeface="Noto Sans Mono CJK KR"/>
              </a:rPr>
              <a:t>싶으시다면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4708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9636E"/>
                </a:solidFill>
                <a:latin typeface="Noto Sans CJK KR"/>
              </a:rPr>
              <a:t>소스 코드는 비공개 저장소로 관리하고 있습니다 — 궁금한 점이나 코드 열람 요청은 이메일로 편하게 연락해 주세요.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32888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697480"/>
            <a:ext cx="4965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953512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0969DA"/>
                </a:solidFill>
                <a:latin typeface="Noto Sans Mono"/>
              </a:rPr>
              <a:t>shkim4548@gmail.com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32888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97480"/>
            <a:ext cx="4965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SOURCE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953512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0969DA"/>
                </a:solidFill>
                <a:latin typeface="Noto Sans Mono"/>
              </a:rPr>
              <a:t>요청 시 이메일로 개별 공유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3950208"/>
            <a:ext cx="1115568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427024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45736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수집 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7024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45736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동시 접속 부하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27024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4745736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테스트 통과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27024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969DA"/>
                </a:solidFill>
                <a:latin typeface="Noto Sans Mono"/>
              </a:rPr>
              <a:t>13.8MB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745736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781"/>
                </a:solidFill>
                <a:latin typeface="Noto Sans CJK KR"/>
              </a:rPr>
              <a:t>RSS 5분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21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Qt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로컬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대시보드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2423160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06070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01.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아키텍처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대전환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— Console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클라이언트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→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로컬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42646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Qt를 Console 웹 API에 붙이면, Console이 죽을 때 로컬 화면까지 같이 죽는다.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02082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Qt는 Console을 모르게 하고, 장비 로컬의 Collector/Agent DB를 직접 읽게 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61518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950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Collector를 장비마다 1:1로 배치해도 코드 변경 0 — 배치만 바꿔 로컬 전환 완료.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11155680" cy="2770632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66674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02.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알림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판단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위치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— Collector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가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아니라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03250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0682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로컬 알림 판단 로직을 처음엔 Collector에 넣으려 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" y="4626864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01184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Collector가 알림까지 하면 역할 침해 + 연결 끊김 시 알림까지 같이 죽는 문제.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5394960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7725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Agent가 전송 전 직접 판단, 전용 DB(agent_alerts.db)에 기록 — 장애 3종 실측 검증.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Qt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로컬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대시보드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2423160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06070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03.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차트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갱신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폴링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중복점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버그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→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발행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-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구독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재설계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42646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새로고침 버튼과 폴링 타이머가 같은 트리거를 공유해 차트에 중복 점이 찍힘.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02082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갱신 이벤트와 새 데이터 도착을 분리 — Collector가 신호만 쏘고 Qt가 재조회.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61518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950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Unix domain socket 발행-구독 직접 구현, Asio↔QLocalSocket 상호운용 실증.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11155680" cy="2770632"/>
          </a:xfrm>
          <a:prstGeom prst="roundRect">
            <a:avLst>
              <a:gd name="adj" fmla="val 45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666744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1F2328"/>
                </a:solidFill>
                <a:latin typeface="Noto Sans Mono"/>
              </a:rPr>
              <a:t>04. Agent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원격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제어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1450" b="1">
                <a:solidFill>
                  <a:srgbClr val="1F2328"/>
                </a:solidFill>
                <a:latin typeface="Noto Sans Mono CJK KR"/>
              </a:rPr>
              <a:t>로컬</a:t>
            </a:r>
            <a:r>
              <a:rPr sz="1450" b="1">
                <a:solidFill>
                  <a:srgbClr val="1F2328"/>
                </a:solidFill>
                <a:latin typeface="Noto Sans Mono"/>
              </a:rPr>
              <a:t> IPC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032504"/>
            <a:ext cx="10716768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0682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대시보드가 보여주기만 하면 부족 — 시작/중지/재연결 같은 조작이 필요.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" y="4626864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969DA"/>
                </a:solidFill>
                <a:latin typeface="Noto Sans Mono CJK KR"/>
              </a:rPr>
              <a:t>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01184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줄바꿈 구분 JSON 프로토콜, 연결 하나당 명령 하나 — Qt는 명령마다 새로 연결.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5394960"/>
            <a:ext cx="10716768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77256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7F37"/>
                </a:solidFill>
                <a:latin typeface="Noto Sans Mono CJK KR"/>
              </a:rPr>
              <a:t>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4개 명령 실측 검증, Agent 다운 시에도 무응답 없이 '명령 실패' 즉시 표시.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A Second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"/>
              </a:rPr>
              <a:t>Qt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로컬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대시보드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—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실행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9636E"/>
                </a:solidFill>
                <a:latin typeface="Noto Sans CJK KR"/>
              </a:rPr>
              <a:t>Collector+Agent+Qt를 함께 띄우고 촬영 — 제어판·상태·차트·지표·알림이 한 화면에.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F2328"/>
                </a:solidFill>
                <a:latin typeface="Noto Sans Mono"/>
              </a:rPr>
              <a:t>APM_QtDashboard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5847" y="1930000"/>
            <a:ext cx="5320000" cy="456112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847" y="1990000"/>
            <a:ext cx="5200000" cy="4441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11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2328"/>
                </a:solidFill>
                <a:latin typeface="Noto Sans Mono CJK KR"/>
              </a:rPr>
              <a:t>버그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스포트라이트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— EF Core + SQLite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의</a:t>
            </a:r>
            <a:r>
              <a:rPr sz="2400" b="1">
                <a:solidFill>
                  <a:srgbClr val="1F2328"/>
                </a:solidFill>
                <a:latin typeface="Noto Sans Mono"/>
              </a:rPr>
              <a:t> DateTimeOffset </a:t>
            </a:r>
            <a:r>
              <a:rPr sz="2400" b="1">
                <a:solidFill>
                  <a:srgbClr val="1F2328"/>
                </a:solidFill>
                <a:latin typeface="Noto Sans Mono CJK KR"/>
              </a:rPr>
              <a:t>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1911095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4864" cy="1819655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04241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F222E"/>
                </a:solidFill>
                <a:latin typeface="Noto Sans Mono"/>
              </a:rPr>
              <a:t>✕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문제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—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요청을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받기도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전에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백그라운드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서비스가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호스트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전체를</a:t>
            </a:r>
            <a:r>
              <a:rPr sz="1300" b="1">
                <a:solidFill>
                  <a:srgbClr val="CF222E"/>
                </a:solidFill>
                <a:latin typeface="Noto Sans Mono"/>
              </a:rPr>
              <a:t> </a:t>
            </a:r>
            <a:r>
              <a:rPr sz="1300" b="1">
                <a:solidFill>
                  <a:srgbClr val="CF222E"/>
                </a:solidFill>
                <a:latin typeface="Noto Sans Mono CJK KR"/>
              </a:rPr>
              <a:t>크래시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1371600"/>
            <a:ext cx="1069848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53896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원인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104058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DateTimeOffset 부등호 비교(m.Ts &lt; cutoff)를 EF Core+SQLite가 SQL로 번역하지 못해 InvalidOperationException.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2121408"/>
            <a:ext cx="106984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03704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발견</a:t>
            </a:r>
            <a:r>
              <a:rPr sz="1000" b="1">
                <a:solidFill>
                  <a:srgbClr val="6E7781"/>
                </a:solidFill>
                <a:latin typeface="Noto Sans Mono"/>
              </a:rPr>
              <a:t> </a:t>
            </a:r>
            <a:r>
              <a:rPr sz="1000" b="1">
                <a:solidFill>
                  <a:srgbClr val="6E7781"/>
                </a:solidFill>
                <a:latin typeface="Noto Sans Mono CJK KR"/>
              </a:rPr>
              <a:t>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104058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알림·트레이스 페이지 실행 검증 중, 기동 직후 보존 정책 서비스(RetentionService)가 호스트째 종료.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62655"/>
            <a:ext cx="11155680" cy="173736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08375"/>
            <a:ext cx="54864" cy="16459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090671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7F37"/>
                </a:solidFill>
                <a:latin typeface="Noto Sans Mono"/>
              </a:rPr>
              <a:t>✓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수정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— LINQ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번역을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우회하는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</a:t>
            </a:r>
            <a:r>
              <a:rPr sz="1300" b="1">
                <a:solidFill>
                  <a:srgbClr val="1A7F37"/>
                </a:solidFill>
                <a:latin typeface="Noto Sans Mono CJK KR"/>
              </a:rPr>
              <a:t>파라미터화</a:t>
            </a:r>
            <a:r>
              <a:rPr sz="1300" b="1">
                <a:solidFill>
                  <a:srgbClr val="1A7F37"/>
                </a:solidFill>
                <a:latin typeface="Noto Sans Mono"/>
              </a:rPr>
              <a:t> raw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3419855"/>
            <a:ext cx="106984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02151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94175"/>
            <a:ext cx="104058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636E"/>
                </a:solidFill>
                <a:latin typeface="Noto Sans CJK KR"/>
              </a:rPr>
              <a:t>값은 파라미터 바인딩이라 인젝션 안전 — ORM은 유지하고, 번역 한계에 걸리는 지점만 SQL로 내림.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" y="3995927"/>
            <a:ext cx="106984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078223"/>
            <a:ext cx="10405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6E7781"/>
                </a:solidFill>
                <a:latin typeface="Noto Sans Mono CJK KR"/>
              </a:rPr>
              <a:t>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70247"/>
            <a:ext cx="1040587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7F37"/>
                </a:solidFill>
                <a:latin typeface="Noto Sans CJK KR"/>
              </a:rPr>
              <a:t>같은 패턴을 재검색해 /apm/traces의 500 에러도 추가 수정 — 알림 실동작 재검증, dotnet test 18/18.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37175"/>
            <a:ext cx="11155680" cy="1273302"/>
          </a:xfrm>
          <a:prstGeom prst="roundRect">
            <a:avLst>
              <a:gd name="adj" fmla="val 3500"/>
            </a:avLst>
          </a:prstGeom>
          <a:solidFill>
            <a:srgbClr val="EAEEF2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946903"/>
            <a:ext cx="10863072" cy="10538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//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수정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전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— DateTimeOffset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부등호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비교를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LINQ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로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→ SQL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번역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실패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CF222E"/>
                </a:solidFill>
                <a:latin typeface="Noto Sans Mono"/>
              </a:rPr>
              <a:t>await 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db.</a:t>
            </a:r>
            <a:r>
              <a:rPr sz="1100" b="0">
                <a:solidFill>
                  <a:srgbClr val="0550AE"/>
                </a:solidFill>
                <a:latin typeface="Noto Sans Mono"/>
              </a:rPr>
              <a:t>Metrics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.Where(m =&gt; m.Ts &lt; cutoff).</a:t>
            </a:r>
            <a:r>
              <a:rPr sz="1100" b="0">
                <a:solidFill>
                  <a:srgbClr val="0550AE"/>
                </a:solidFill>
                <a:latin typeface="Noto Sans Mono"/>
              </a:rPr>
              <a:t>ExecuteDeleteAsync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(ct);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781"/>
                </a:solidFill>
                <a:latin typeface="Noto Sans Mono"/>
              </a:rPr>
              <a:t>//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수정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후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— LINQ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번역을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거치지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않는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</a:t>
            </a:r>
            <a:r>
              <a:rPr sz="1100" b="0">
                <a:solidFill>
                  <a:srgbClr val="6E7781"/>
                </a:solidFill>
                <a:latin typeface="Noto Sans Mono CJK KR"/>
              </a:rPr>
              <a:t>파라미터화</a:t>
            </a:r>
            <a:r>
              <a:rPr sz="1100" b="0">
                <a:solidFill>
                  <a:srgbClr val="6E7781"/>
                </a:solidFill>
                <a:latin typeface="Noto Sans Mono"/>
              </a:rPr>
              <a:t> raw SQL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CF222E"/>
                </a:solidFill>
                <a:latin typeface="Noto Sans Mono"/>
              </a:rPr>
              <a:t>await 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db.Database.</a:t>
            </a:r>
            <a:r>
              <a:rPr sz="1100" b="0">
                <a:solidFill>
                  <a:srgbClr val="0550AE"/>
                </a:solidFill>
                <a:latin typeface="Noto Sans Mono"/>
              </a:rPr>
              <a:t>ExecuteSqlInterpolatedAsync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(</a:t>
            </a:r>
            <a:r>
              <a:rPr sz="1100" b="0">
                <a:solidFill>
                  <a:srgbClr val="116329"/>
                </a:solidFill>
                <a:latin typeface="Noto Sans Mono"/>
              </a:rPr>
              <a:t>$"DELETE FROM Metrics WHERE Ts &lt; {cutoff}"</a:t>
            </a:r>
            <a:r>
              <a:rPr sz="1100" b="0">
                <a:solidFill>
                  <a:srgbClr val="1F2328"/>
                </a:solidFill>
                <a:latin typeface="Noto Sans Mono"/>
              </a:rPr>
              <a:t>, ct);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6E7781"/>
                </a:solidFill>
                <a:latin typeface="Noto Sans Mono"/>
              </a:rPr>
              <a:t>16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